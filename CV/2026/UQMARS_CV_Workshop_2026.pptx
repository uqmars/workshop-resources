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0" r:id="rId2"/>
  </p:sldMasterIdLst>
  <p:notesMasterIdLst>
    <p:notesMasterId r:id="rId33"/>
  </p:notesMasterIdLst>
  <p:sldIdLst>
    <p:sldId id="256" r:id="rId3"/>
    <p:sldId id="275" r:id="rId4"/>
    <p:sldId id="276" r:id="rId5"/>
    <p:sldId id="278" r:id="rId6"/>
    <p:sldId id="279" r:id="rId7"/>
    <p:sldId id="284" r:id="rId8"/>
    <p:sldId id="258" r:id="rId9"/>
    <p:sldId id="285" r:id="rId10"/>
    <p:sldId id="286" r:id="rId11"/>
    <p:sldId id="263" r:id="rId12"/>
    <p:sldId id="287" r:id="rId13"/>
    <p:sldId id="264" r:id="rId14"/>
    <p:sldId id="265" r:id="rId15"/>
    <p:sldId id="261" r:id="rId16"/>
    <p:sldId id="266" r:id="rId17"/>
    <p:sldId id="267" r:id="rId18"/>
    <p:sldId id="288" r:id="rId19"/>
    <p:sldId id="269" r:id="rId20"/>
    <p:sldId id="289" r:id="rId21"/>
    <p:sldId id="290" r:id="rId22"/>
    <p:sldId id="272" r:id="rId23"/>
    <p:sldId id="273" r:id="rId24"/>
    <p:sldId id="292" r:id="rId25"/>
    <p:sldId id="291" r:id="rId26"/>
    <p:sldId id="280" r:id="rId27"/>
    <p:sldId id="277" r:id="rId28"/>
    <p:sldId id="281" r:id="rId29"/>
    <p:sldId id="282" r:id="rId30"/>
    <p:sldId id="283" r:id="rId31"/>
    <p:sldId id="274"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096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FF39E-ABFC-ADA8-5B5F-9469315F9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7D8E2-6688-7D92-9BBA-65500C910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7144E-D192-083A-8DCA-E4DB7F6316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B06EFA-1011-374A-BABA-B158EA51296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77413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0E3FE-A322-F96B-BAA8-F280A87AB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0D705-0122-31B6-F9B4-7E5979A5D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0D82D-EB12-367E-5B98-7E45E2074D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5DF34-5F9C-CCCA-3717-D122E8201C3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8483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08956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057070"/>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VsIMl8O_F1w?feature=oembed" TargetMode="External"/><Relationship Id="rId1" Type="http://schemas.openxmlformats.org/officeDocument/2006/relationships/video" Target="https://www.youtube.com/embed/WSHmZbHqDHM?feature=oembed" TargetMode="Externa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AE"/>
          </a:p>
        </p:txBody>
      </p:sp>
      <p:sp>
        <p:nvSpPr>
          <p:cNvPr id="3" name="Text 1"/>
          <p:cNvSpPr/>
          <p:nvPr/>
        </p:nvSpPr>
        <p:spPr>
          <a:xfrm>
            <a:off x="731520" y="914400"/>
            <a:ext cx="5486400" cy="1097280"/>
          </a:xfrm>
          <a:prstGeom prst="rect">
            <a:avLst/>
          </a:prstGeom>
          <a:noFill/>
          <a:ln/>
        </p:spPr>
        <p:txBody>
          <a:bodyPr wrap="square" lIns="0" tIns="0" rIns="0" bIns="0" rtlCol="0" anchor="ctr"/>
          <a:lstStyle/>
          <a:p>
            <a:pPr marL="0" indent="0">
              <a:buNone/>
            </a:pPr>
            <a:r>
              <a:rPr lang="en-US" sz="4800" b="1" dirty="0">
                <a:solidFill>
                  <a:srgbClr val="FFFFFF"/>
                </a:solidFill>
                <a:latin typeface="Trebuchet MS" pitchFamily="34" charset="0"/>
                <a:ea typeface="Trebuchet MS" pitchFamily="34" charset="-122"/>
                <a:cs typeface="Trebuchet MS" pitchFamily="34" charset="-120"/>
              </a:rPr>
              <a:t>Computer Vision</a:t>
            </a:r>
            <a:endParaRPr lang="en-US" sz="4800" dirty="0"/>
          </a:p>
        </p:txBody>
      </p:sp>
      <p:sp>
        <p:nvSpPr>
          <p:cNvPr id="4" name="Text 2"/>
          <p:cNvSpPr/>
          <p:nvPr/>
        </p:nvSpPr>
        <p:spPr>
          <a:xfrm>
            <a:off x="731520" y="1920240"/>
            <a:ext cx="5486400" cy="731520"/>
          </a:xfrm>
          <a:prstGeom prst="rect">
            <a:avLst/>
          </a:prstGeom>
          <a:noFill/>
          <a:ln/>
        </p:spPr>
        <p:txBody>
          <a:bodyPr wrap="square" lIns="0" tIns="0" rIns="0" bIns="0" rtlCol="0" anchor="ctr"/>
          <a:lstStyle/>
          <a:p>
            <a:pPr marL="0" indent="0">
              <a:buNone/>
            </a:pPr>
            <a:r>
              <a:rPr lang="en-US" sz="3600" b="1" dirty="0">
                <a:solidFill>
                  <a:srgbClr val="0891B2"/>
                </a:solidFill>
                <a:latin typeface="Trebuchet MS" pitchFamily="34" charset="0"/>
                <a:ea typeface="Trebuchet MS" pitchFamily="34" charset="-122"/>
                <a:cs typeface="Trebuchet MS" pitchFamily="34" charset="-120"/>
              </a:rPr>
              <a:t>Workshop 2026</a:t>
            </a:r>
            <a:endParaRPr lang="en-US" sz="3600" dirty="0"/>
          </a:p>
        </p:txBody>
      </p:sp>
      <p:sp>
        <p:nvSpPr>
          <p:cNvPr id="5" name="Text 3"/>
          <p:cNvSpPr/>
          <p:nvPr/>
        </p:nvSpPr>
        <p:spPr>
          <a:xfrm>
            <a:off x="731520" y="2926080"/>
            <a:ext cx="5029200" cy="5486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From pixels to tracking — hands-on with OpenCV &amp; Python</a:t>
            </a:r>
            <a:endParaRPr lang="en-US" sz="1500" dirty="0"/>
          </a:p>
        </p:txBody>
      </p:sp>
      <p:sp>
        <p:nvSpPr>
          <p:cNvPr id="6" name="Shape 4"/>
          <p:cNvSpPr/>
          <p:nvPr/>
        </p:nvSpPr>
        <p:spPr>
          <a:xfrm>
            <a:off x="731520" y="3648456"/>
            <a:ext cx="1371600" cy="36576"/>
          </a:xfrm>
          <a:prstGeom prst="rect">
            <a:avLst/>
          </a:prstGeom>
          <a:solidFill>
            <a:srgbClr val="0891B2"/>
          </a:solidFill>
          <a:ln/>
        </p:spPr>
        <p:txBody>
          <a:bodyPr/>
          <a:lstStyle/>
          <a:p>
            <a:endParaRPr lang="en-AE"/>
          </a:p>
        </p:txBody>
      </p:sp>
      <p:sp>
        <p:nvSpPr>
          <p:cNvPr id="7" name="Text 5"/>
          <p:cNvSpPr/>
          <p:nvPr/>
        </p:nvSpPr>
        <p:spPr>
          <a:xfrm>
            <a:off x="731519" y="3931920"/>
            <a:ext cx="4783015"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UQ MARS — Mechatronics &amp; Robotics Society</a:t>
            </a:r>
          </a:p>
        </p:txBody>
      </p:sp>
      <p:sp>
        <p:nvSpPr>
          <p:cNvPr id="9" name="Shape 7"/>
          <p:cNvSpPr/>
          <p:nvPr/>
        </p:nvSpPr>
        <p:spPr>
          <a:xfrm>
            <a:off x="6172200" y="270803"/>
            <a:ext cx="2011680" cy="2011680"/>
          </a:xfrm>
          <a:prstGeom prst="ellipse">
            <a:avLst/>
          </a:prstGeom>
          <a:solidFill>
            <a:srgbClr val="1E3A5F"/>
          </a:solidFill>
          <a:ln/>
        </p:spPr>
        <p:txBody>
          <a:bodyPr/>
          <a:lstStyle/>
          <a:p>
            <a:endParaRPr lang="en-AE"/>
          </a:p>
        </p:txBody>
      </p:sp>
      <p:pic>
        <p:nvPicPr>
          <p:cNvPr id="10" name="Image 0" descr="preencoded.png"/>
          <p:cNvPicPr>
            <a:picLocks noChangeAspect="1"/>
          </p:cNvPicPr>
          <p:nvPr/>
        </p:nvPicPr>
        <p:blipFill>
          <a:blip r:embed="rId3"/>
          <a:stretch>
            <a:fillRect/>
          </a:stretch>
        </p:blipFill>
        <p:spPr>
          <a:xfrm>
            <a:off x="6675120" y="773723"/>
            <a:ext cx="1005840" cy="1005840"/>
          </a:xfrm>
          <a:prstGeom prst="rect">
            <a:avLst/>
          </a:prstGeom>
        </p:spPr>
      </p:pic>
      <p:sp>
        <p:nvSpPr>
          <p:cNvPr id="11" name="Shape 8"/>
          <p:cNvSpPr/>
          <p:nvPr/>
        </p:nvSpPr>
        <p:spPr>
          <a:xfrm>
            <a:off x="7863840" y="225083"/>
            <a:ext cx="1097280" cy="1097280"/>
          </a:xfrm>
          <a:prstGeom prst="ellipse">
            <a:avLst/>
          </a:prstGeom>
          <a:solidFill>
            <a:srgbClr val="0891B2">
              <a:alpha val="70000"/>
            </a:srgbClr>
          </a:solidFill>
          <a:ln/>
        </p:spPr>
        <p:txBody>
          <a:bodyPr/>
          <a:lstStyle/>
          <a:p>
            <a:endParaRPr lang="en-AE"/>
          </a:p>
        </p:txBody>
      </p:sp>
      <p:pic>
        <p:nvPicPr>
          <p:cNvPr id="12" name="Image 1" descr="preencoded.png"/>
          <p:cNvPicPr>
            <a:picLocks noChangeAspect="1"/>
          </p:cNvPicPr>
          <p:nvPr/>
        </p:nvPicPr>
        <p:blipFill>
          <a:blip r:embed="rId4"/>
          <a:stretch>
            <a:fillRect/>
          </a:stretch>
        </p:blipFill>
        <p:spPr>
          <a:xfrm>
            <a:off x="8092440" y="453683"/>
            <a:ext cx="640080" cy="640080"/>
          </a:xfrm>
          <a:prstGeom prst="rect">
            <a:avLst/>
          </a:prstGeom>
        </p:spPr>
      </p:pic>
      <p:pic>
        <p:nvPicPr>
          <p:cNvPr id="13" name="Google Shape;283;p45">
            <a:extLst>
              <a:ext uri="{FF2B5EF4-FFF2-40B4-BE49-F238E27FC236}">
                <a16:creationId xmlns:a16="http://schemas.microsoft.com/office/drawing/2014/main" id="{5A022D4E-3998-3B13-0BAC-667BB10D8FA0}"/>
              </a:ext>
            </a:extLst>
          </p:cNvPr>
          <p:cNvPicPr preferRelativeResize="0">
            <a:picLocks noChangeAspect="1"/>
          </p:cNvPicPr>
          <p:nvPr/>
        </p:nvPicPr>
        <p:blipFill rotWithShape="1">
          <a:blip r:embed="rId5">
            <a:alphaModFix/>
          </a:blip>
          <a:srcRect/>
          <a:stretch/>
        </p:blipFill>
        <p:spPr>
          <a:xfrm>
            <a:off x="6520375" y="2688863"/>
            <a:ext cx="2156929" cy="2156929"/>
          </a:xfrm>
          <a:prstGeom prst="rect">
            <a:avLst/>
          </a:prstGeom>
          <a:noFill/>
          <a:ln>
            <a:noFill/>
          </a:ln>
        </p:spPr>
      </p:pic>
      <p:sp>
        <p:nvSpPr>
          <p:cNvPr id="8" name="TextBox 7">
            <a:extLst>
              <a:ext uri="{FF2B5EF4-FFF2-40B4-BE49-F238E27FC236}">
                <a16:creationId xmlns:a16="http://schemas.microsoft.com/office/drawing/2014/main" id="{25C27F1B-522D-2E43-6A82-129524DD9A2A}"/>
              </a:ext>
            </a:extLst>
          </p:cNvPr>
          <p:cNvSpPr txBox="1"/>
          <p:nvPr/>
        </p:nvSpPr>
        <p:spPr>
          <a:xfrm>
            <a:off x="7053657" y="2302064"/>
            <a:ext cx="1090363" cy="369332"/>
          </a:xfrm>
          <a:prstGeom prst="rect">
            <a:avLst/>
          </a:prstGeom>
          <a:noFill/>
        </p:spPr>
        <p:txBody>
          <a:bodyPr wrap="none" rtlCol="0">
            <a:spAutoFit/>
          </a:bodyPr>
          <a:lstStyle/>
          <a:p>
            <a:r>
              <a:rPr lang="en-US" b="1" dirty="0">
                <a:solidFill>
                  <a:schemeClr val="bg1"/>
                </a:solidFill>
              </a:rPr>
              <a:t>LINKTREE</a:t>
            </a:r>
            <a:endParaRPr lang="en-AE"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What is Computer Vision?</a:t>
            </a:r>
            <a:endParaRPr lang="en-US" sz="3200" dirty="0"/>
          </a:p>
        </p:txBody>
      </p:sp>
      <p:sp>
        <p:nvSpPr>
          <p:cNvPr id="3" name="Shape 1"/>
          <p:cNvSpPr/>
          <p:nvPr/>
        </p:nvSpPr>
        <p:spPr>
          <a:xfrm>
            <a:off x="640080" y="1188720"/>
            <a:ext cx="786384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4" name="Shape 2"/>
          <p:cNvSpPr/>
          <p:nvPr/>
        </p:nvSpPr>
        <p:spPr>
          <a:xfrm>
            <a:off x="640080" y="1188720"/>
            <a:ext cx="73152" cy="1188720"/>
          </a:xfrm>
          <a:prstGeom prst="rect">
            <a:avLst/>
          </a:prstGeom>
          <a:solidFill>
            <a:srgbClr val="0891B2"/>
          </a:solidFill>
          <a:ln/>
        </p:spPr>
        <p:txBody>
          <a:bodyPr/>
          <a:lstStyle/>
          <a:p>
            <a:endParaRPr lang="en-AE"/>
          </a:p>
        </p:txBody>
      </p:sp>
      <p:sp>
        <p:nvSpPr>
          <p:cNvPr id="5" name="Text 3"/>
          <p:cNvSpPr/>
          <p:nvPr/>
        </p:nvSpPr>
        <p:spPr>
          <a:xfrm>
            <a:off x="872197" y="1280160"/>
            <a:ext cx="7399606" cy="1005840"/>
          </a:xfrm>
          <a:prstGeom prst="rect">
            <a:avLst/>
          </a:prstGeom>
          <a:noFill/>
          <a:ln/>
        </p:spPr>
        <p:txBody>
          <a:bodyPr wrap="square" lIns="0" tIns="0" rIns="0" bIns="0" rtlCol="0" anchor="ctr"/>
          <a:lstStyle/>
          <a:p>
            <a:pPr marL="0" indent="0">
              <a:buNone/>
            </a:pPr>
            <a:r>
              <a:rPr lang="en-US" sz="1600" dirty="0">
                <a:solidFill>
                  <a:srgbClr val="0F172A"/>
                </a:solidFill>
                <a:latin typeface="Calibri" pitchFamily="34" charset="0"/>
                <a:ea typeface="Calibri" pitchFamily="34" charset="-122"/>
                <a:cs typeface="Calibri" pitchFamily="34" charset="-120"/>
              </a:rPr>
              <a:t>Computer vision is a subfield of artificial intelligence (AI) that equips machines with the ability to process, analyze and interpret visual inputs such as images and videos. It uses machine learning to help computers and other systems derive meaningful information from visual data. – IBM</a:t>
            </a:r>
            <a:endParaRPr lang="en-US" sz="1600" dirty="0"/>
          </a:p>
        </p:txBody>
      </p:sp>
      <p:sp>
        <p:nvSpPr>
          <p:cNvPr id="6" name="Shape 4"/>
          <p:cNvSpPr/>
          <p:nvPr/>
        </p:nvSpPr>
        <p:spPr>
          <a:xfrm>
            <a:off x="457200" y="2651760"/>
            <a:ext cx="2651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7" name="Shape 5"/>
          <p:cNvSpPr/>
          <p:nvPr/>
        </p:nvSpPr>
        <p:spPr>
          <a:xfrm>
            <a:off x="1417320" y="2788920"/>
            <a:ext cx="731520" cy="731520"/>
          </a:xfrm>
          <a:prstGeom prst="ellipse">
            <a:avLst/>
          </a:prstGeom>
          <a:solidFill>
            <a:srgbClr val="0891B2"/>
          </a:solidFill>
          <a:ln/>
        </p:spPr>
        <p:txBody>
          <a:bodyPr/>
          <a:lstStyle/>
          <a:p>
            <a:endParaRPr lang="en-AE"/>
          </a:p>
        </p:txBody>
      </p:sp>
      <p:pic>
        <p:nvPicPr>
          <p:cNvPr id="8" name="Image 0" descr="preencoded.png"/>
          <p:cNvPicPr>
            <a:picLocks noChangeAspect="1"/>
          </p:cNvPicPr>
          <p:nvPr/>
        </p:nvPicPr>
        <p:blipFill>
          <a:blip r:embed="rId3"/>
          <a:stretch>
            <a:fillRect/>
          </a:stretch>
        </p:blipFill>
        <p:spPr>
          <a:xfrm>
            <a:off x="1554480" y="2926080"/>
            <a:ext cx="457200" cy="457200"/>
          </a:xfrm>
          <a:prstGeom prst="rect">
            <a:avLst/>
          </a:prstGeom>
        </p:spPr>
      </p:pic>
      <p:sp>
        <p:nvSpPr>
          <p:cNvPr id="9" name="Text 6"/>
          <p:cNvSpPr/>
          <p:nvPr/>
        </p:nvSpPr>
        <p:spPr>
          <a:xfrm>
            <a:off x="594360" y="3611880"/>
            <a:ext cx="2377440" cy="320040"/>
          </a:xfrm>
          <a:prstGeom prst="rect">
            <a:avLst/>
          </a:prstGeom>
          <a:noFill/>
          <a:ln/>
        </p:spPr>
        <p:txBody>
          <a:bodyPr wrap="square" lIns="0" tIns="0" rIns="0" bIns="0" rtlCol="0" anchor="ctr"/>
          <a:lstStyle/>
          <a:p>
            <a:pPr marL="0" indent="0" algn="ctr">
              <a:buNone/>
            </a:pPr>
            <a:r>
              <a:rPr lang="en-US" sz="1600" b="1" dirty="0">
                <a:solidFill>
                  <a:srgbClr val="0F172A"/>
                </a:solidFill>
                <a:latin typeface="Calibri" pitchFamily="34" charset="0"/>
                <a:ea typeface="Calibri" pitchFamily="34" charset="-122"/>
                <a:cs typeface="Calibri" pitchFamily="34" charset="-120"/>
              </a:rPr>
              <a:t>Capture</a:t>
            </a:r>
            <a:endParaRPr lang="en-US" sz="1600" dirty="0"/>
          </a:p>
        </p:txBody>
      </p:sp>
      <p:sp>
        <p:nvSpPr>
          <p:cNvPr id="10" name="Text 7"/>
          <p:cNvSpPr/>
          <p:nvPr/>
        </p:nvSpPr>
        <p:spPr>
          <a:xfrm>
            <a:off x="594360" y="3931920"/>
            <a:ext cx="237744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Cameras and sensors collect raw visual data as grids of pixels</a:t>
            </a:r>
            <a:endParaRPr lang="en-US" sz="1100" dirty="0"/>
          </a:p>
        </p:txBody>
      </p:sp>
      <p:sp>
        <p:nvSpPr>
          <p:cNvPr id="11" name="Shape 8"/>
          <p:cNvSpPr/>
          <p:nvPr/>
        </p:nvSpPr>
        <p:spPr>
          <a:xfrm>
            <a:off x="3337560" y="2651760"/>
            <a:ext cx="2651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2" name="Shape 9"/>
          <p:cNvSpPr/>
          <p:nvPr/>
        </p:nvSpPr>
        <p:spPr>
          <a:xfrm>
            <a:off x="4297680" y="2788920"/>
            <a:ext cx="731520" cy="731520"/>
          </a:xfrm>
          <a:prstGeom prst="ellipse">
            <a:avLst/>
          </a:prstGeom>
          <a:solidFill>
            <a:srgbClr val="0891B2"/>
          </a:solidFill>
          <a:ln/>
        </p:spPr>
        <p:txBody>
          <a:bodyPr/>
          <a:lstStyle/>
          <a:p>
            <a:endParaRPr lang="en-AE"/>
          </a:p>
        </p:txBody>
      </p:sp>
      <p:pic>
        <p:nvPicPr>
          <p:cNvPr id="13" name="Image 1" descr="preencoded.png"/>
          <p:cNvPicPr>
            <a:picLocks noChangeAspect="1"/>
          </p:cNvPicPr>
          <p:nvPr/>
        </p:nvPicPr>
        <p:blipFill>
          <a:blip r:embed="rId4"/>
          <a:stretch>
            <a:fillRect/>
          </a:stretch>
        </p:blipFill>
        <p:spPr>
          <a:xfrm>
            <a:off x="4434840" y="2926080"/>
            <a:ext cx="457200" cy="457200"/>
          </a:xfrm>
          <a:prstGeom prst="rect">
            <a:avLst/>
          </a:prstGeom>
        </p:spPr>
      </p:pic>
      <p:sp>
        <p:nvSpPr>
          <p:cNvPr id="14" name="Text 10"/>
          <p:cNvSpPr/>
          <p:nvPr/>
        </p:nvSpPr>
        <p:spPr>
          <a:xfrm>
            <a:off x="3474720" y="3611880"/>
            <a:ext cx="2377440" cy="320040"/>
          </a:xfrm>
          <a:prstGeom prst="rect">
            <a:avLst/>
          </a:prstGeom>
          <a:noFill/>
          <a:ln/>
        </p:spPr>
        <p:txBody>
          <a:bodyPr wrap="square" lIns="0" tIns="0" rIns="0" bIns="0" rtlCol="0" anchor="ctr"/>
          <a:lstStyle/>
          <a:p>
            <a:pPr marL="0" indent="0" algn="ctr">
              <a:buNone/>
            </a:pPr>
            <a:r>
              <a:rPr lang="en-US" sz="1600" b="1" dirty="0">
                <a:solidFill>
                  <a:srgbClr val="0F172A"/>
                </a:solidFill>
                <a:latin typeface="Calibri" pitchFamily="34" charset="0"/>
                <a:ea typeface="Calibri" pitchFamily="34" charset="-122"/>
                <a:cs typeface="Calibri" pitchFamily="34" charset="-120"/>
              </a:rPr>
              <a:t>Process</a:t>
            </a:r>
            <a:endParaRPr lang="en-US" sz="1600" dirty="0"/>
          </a:p>
        </p:txBody>
      </p:sp>
      <p:sp>
        <p:nvSpPr>
          <p:cNvPr id="15" name="Text 11"/>
          <p:cNvSpPr/>
          <p:nvPr/>
        </p:nvSpPr>
        <p:spPr>
          <a:xfrm>
            <a:off x="3474720" y="3931920"/>
            <a:ext cx="237744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Algorithms filter, transform, and extract meaningful features</a:t>
            </a:r>
            <a:endParaRPr lang="en-US" sz="1100" dirty="0"/>
          </a:p>
        </p:txBody>
      </p:sp>
      <p:sp>
        <p:nvSpPr>
          <p:cNvPr id="16" name="Shape 12"/>
          <p:cNvSpPr/>
          <p:nvPr/>
        </p:nvSpPr>
        <p:spPr>
          <a:xfrm>
            <a:off x="6217920" y="2651760"/>
            <a:ext cx="2651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7" name="Shape 13"/>
          <p:cNvSpPr/>
          <p:nvPr/>
        </p:nvSpPr>
        <p:spPr>
          <a:xfrm>
            <a:off x="7178040" y="2788920"/>
            <a:ext cx="731520" cy="731520"/>
          </a:xfrm>
          <a:prstGeom prst="ellipse">
            <a:avLst/>
          </a:prstGeom>
          <a:solidFill>
            <a:srgbClr val="0891B2"/>
          </a:solidFill>
          <a:ln/>
        </p:spPr>
        <p:txBody>
          <a:bodyPr/>
          <a:lstStyle/>
          <a:p>
            <a:endParaRPr lang="en-AE"/>
          </a:p>
        </p:txBody>
      </p:sp>
      <p:pic>
        <p:nvPicPr>
          <p:cNvPr id="18" name="Image 2" descr="preencoded.png"/>
          <p:cNvPicPr>
            <a:picLocks noChangeAspect="1"/>
          </p:cNvPicPr>
          <p:nvPr/>
        </p:nvPicPr>
        <p:blipFill>
          <a:blip r:embed="rId5"/>
          <a:stretch>
            <a:fillRect/>
          </a:stretch>
        </p:blipFill>
        <p:spPr>
          <a:xfrm>
            <a:off x="7315200" y="2926080"/>
            <a:ext cx="457200" cy="457200"/>
          </a:xfrm>
          <a:prstGeom prst="rect">
            <a:avLst/>
          </a:prstGeom>
        </p:spPr>
      </p:pic>
      <p:sp>
        <p:nvSpPr>
          <p:cNvPr id="19" name="Text 14"/>
          <p:cNvSpPr/>
          <p:nvPr/>
        </p:nvSpPr>
        <p:spPr>
          <a:xfrm>
            <a:off x="6355080" y="3611880"/>
            <a:ext cx="2377440" cy="320040"/>
          </a:xfrm>
          <a:prstGeom prst="rect">
            <a:avLst/>
          </a:prstGeom>
          <a:noFill/>
          <a:ln/>
        </p:spPr>
        <p:txBody>
          <a:bodyPr wrap="square" lIns="0" tIns="0" rIns="0" bIns="0" rtlCol="0" anchor="ctr"/>
          <a:lstStyle/>
          <a:p>
            <a:pPr marL="0" indent="0" algn="ctr">
              <a:buNone/>
            </a:pPr>
            <a:r>
              <a:rPr lang="en-US" sz="1600" b="1" dirty="0">
                <a:solidFill>
                  <a:srgbClr val="0F172A"/>
                </a:solidFill>
                <a:latin typeface="Calibri" pitchFamily="34" charset="0"/>
                <a:ea typeface="Calibri" pitchFamily="34" charset="-122"/>
                <a:cs typeface="Calibri" pitchFamily="34" charset="-120"/>
              </a:rPr>
              <a:t>Understand</a:t>
            </a:r>
            <a:endParaRPr lang="en-US" sz="1600" dirty="0"/>
          </a:p>
        </p:txBody>
      </p:sp>
      <p:sp>
        <p:nvSpPr>
          <p:cNvPr id="20" name="Text 15"/>
          <p:cNvSpPr/>
          <p:nvPr/>
        </p:nvSpPr>
        <p:spPr>
          <a:xfrm>
            <a:off x="6355080" y="3931920"/>
            <a:ext cx="237744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The system interprets what it sees — objects, motion, depth</a:t>
            </a:r>
            <a:endParaRPr lang="en-US" sz="1100" dirty="0"/>
          </a:p>
        </p:txBody>
      </p:sp>
      <p:sp>
        <p:nvSpPr>
          <p:cNvPr id="21" name="Shape 16"/>
          <p:cNvSpPr/>
          <p:nvPr/>
        </p:nvSpPr>
        <p:spPr>
          <a:xfrm>
            <a:off x="0" y="4754880"/>
            <a:ext cx="9144000" cy="388620"/>
          </a:xfrm>
          <a:prstGeom prst="rect">
            <a:avLst/>
          </a:prstGeom>
          <a:solidFill>
            <a:srgbClr val="0F172A"/>
          </a:solidFill>
          <a:ln/>
        </p:spPr>
        <p:txBody>
          <a:bodyPr/>
          <a:lstStyle/>
          <a:p>
            <a:endParaRPr lang="en-AE"/>
          </a:p>
        </p:txBody>
      </p:sp>
      <p:sp>
        <p:nvSpPr>
          <p:cNvPr id="22" name="Text 17"/>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Introduction</a:t>
            </a:r>
            <a:endParaRPr lang="en-US" sz="900" dirty="0"/>
          </a:p>
        </p:txBody>
      </p:sp>
      <p:sp>
        <p:nvSpPr>
          <p:cNvPr id="23" name="Text 18"/>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MARS 2026</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Why Do We Need Computer Vision?</a:t>
            </a:r>
            <a:endParaRPr lang="en-US" sz="3200" dirty="0"/>
          </a:p>
        </p:txBody>
      </p:sp>
      <p:sp>
        <p:nvSpPr>
          <p:cNvPr id="3" name="Text 1"/>
          <p:cNvSpPr/>
          <p:nvPr/>
        </p:nvSpPr>
        <p:spPr>
          <a:xfrm>
            <a:off x="640080" y="1005840"/>
            <a:ext cx="786384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Humans process visual information effortlessly… but for robots and software, it's one of the hardest problems in AI.</a:t>
            </a:r>
            <a:endParaRPr lang="en-US" sz="1400" dirty="0"/>
          </a:p>
        </p:txBody>
      </p:sp>
      <p:sp>
        <p:nvSpPr>
          <p:cNvPr id="4" name="Shape 2"/>
          <p:cNvSpPr/>
          <p:nvPr/>
        </p:nvSpPr>
        <p:spPr>
          <a:xfrm>
            <a:off x="640080" y="1645920"/>
            <a:ext cx="786384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5" name="Shape 3"/>
          <p:cNvSpPr/>
          <p:nvPr/>
        </p:nvSpPr>
        <p:spPr>
          <a:xfrm>
            <a:off x="640080" y="1645920"/>
            <a:ext cx="64008" cy="640080"/>
          </a:xfrm>
          <a:prstGeom prst="rect">
            <a:avLst/>
          </a:prstGeom>
          <a:solidFill>
            <a:srgbClr val="0891B2"/>
          </a:solidFill>
          <a:ln/>
        </p:spPr>
        <p:txBody>
          <a:bodyPr/>
          <a:lstStyle/>
          <a:p>
            <a:endParaRPr lang="en-AE"/>
          </a:p>
        </p:txBody>
      </p:sp>
      <p:sp>
        <p:nvSpPr>
          <p:cNvPr id="6" name="Text 4"/>
          <p:cNvSpPr/>
          <p:nvPr/>
        </p:nvSpPr>
        <p:spPr>
          <a:xfrm>
            <a:off x="914400" y="1691640"/>
            <a:ext cx="2743200" cy="25603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Robots need eyes</a:t>
            </a:r>
            <a:endParaRPr lang="en-US" sz="1400" dirty="0"/>
          </a:p>
        </p:txBody>
      </p:sp>
      <p:sp>
        <p:nvSpPr>
          <p:cNvPr id="7" name="Text 5"/>
          <p:cNvSpPr/>
          <p:nvPr/>
        </p:nvSpPr>
        <p:spPr>
          <a:xfrm>
            <a:off x="914400" y="1947672"/>
            <a:ext cx="731520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Autonomous systems can't interact with the world without understanding what's around them. Picking up objects, avoiding obstacles, navigating terrain is quite impossible without some sort of sensing.</a:t>
            </a:r>
            <a:endParaRPr lang="en-US" sz="1100" dirty="0"/>
          </a:p>
        </p:txBody>
      </p:sp>
      <p:sp>
        <p:nvSpPr>
          <p:cNvPr id="8" name="Shape 6"/>
          <p:cNvSpPr/>
          <p:nvPr/>
        </p:nvSpPr>
        <p:spPr>
          <a:xfrm>
            <a:off x="640080" y="2395728"/>
            <a:ext cx="786384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9" name="Shape 7"/>
          <p:cNvSpPr/>
          <p:nvPr/>
        </p:nvSpPr>
        <p:spPr>
          <a:xfrm>
            <a:off x="640080" y="2395728"/>
            <a:ext cx="64008" cy="640080"/>
          </a:xfrm>
          <a:prstGeom prst="rect">
            <a:avLst/>
          </a:prstGeom>
          <a:solidFill>
            <a:srgbClr val="0891B2"/>
          </a:solidFill>
          <a:ln/>
        </p:spPr>
        <p:txBody>
          <a:bodyPr/>
          <a:lstStyle/>
          <a:p>
            <a:endParaRPr lang="en-AE"/>
          </a:p>
        </p:txBody>
      </p:sp>
      <p:sp>
        <p:nvSpPr>
          <p:cNvPr id="10" name="Text 8"/>
          <p:cNvSpPr/>
          <p:nvPr/>
        </p:nvSpPr>
        <p:spPr>
          <a:xfrm>
            <a:off x="914400" y="2441448"/>
            <a:ext cx="2743200" cy="25603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Data is visual</a:t>
            </a:r>
            <a:endParaRPr lang="en-US" sz="1400" dirty="0"/>
          </a:p>
        </p:txBody>
      </p:sp>
      <p:sp>
        <p:nvSpPr>
          <p:cNvPr id="11" name="Text 9"/>
          <p:cNvSpPr/>
          <p:nvPr/>
        </p:nvSpPr>
        <p:spPr>
          <a:xfrm>
            <a:off x="914400" y="2697480"/>
            <a:ext cx="731520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Over 80% of the data generated today is visual. Cameras are cheap, everywhere, and produce rich information that structured sensors can't match.</a:t>
            </a:r>
            <a:endParaRPr lang="en-US" sz="1100" dirty="0"/>
          </a:p>
        </p:txBody>
      </p:sp>
      <p:sp>
        <p:nvSpPr>
          <p:cNvPr id="12" name="Shape 10"/>
          <p:cNvSpPr/>
          <p:nvPr/>
        </p:nvSpPr>
        <p:spPr>
          <a:xfrm>
            <a:off x="640080" y="3145536"/>
            <a:ext cx="786384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3" name="Shape 11"/>
          <p:cNvSpPr/>
          <p:nvPr/>
        </p:nvSpPr>
        <p:spPr>
          <a:xfrm>
            <a:off x="640080" y="3145536"/>
            <a:ext cx="64008" cy="640080"/>
          </a:xfrm>
          <a:prstGeom prst="rect">
            <a:avLst/>
          </a:prstGeom>
          <a:solidFill>
            <a:srgbClr val="0891B2"/>
          </a:solidFill>
          <a:ln/>
        </p:spPr>
        <p:txBody>
          <a:bodyPr/>
          <a:lstStyle/>
          <a:p>
            <a:endParaRPr lang="en-AE"/>
          </a:p>
        </p:txBody>
      </p:sp>
      <p:sp>
        <p:nvSpPr>
          <p:cNvPr id="14" name="Text 12"/>
          <p:cNvSpPr/>
          <p:nvPr/>
        </p:nvSpPr>
        <p:spPr>
          <a:xfrm>
            <a:off x="914400" y="3191256"/>
            <a:ext cx="2743200" cy="25603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Automation at scale</a:t>
            </a:r>
            <a:endParaRPr lang="en-US" sz="1400" dirty="0"/>
          </a:p>
        </p:txBody>
      </p:sp>
      <p:sp>
        <p:nvSpPr>
          <p:cNvPr id="15" name="Text 13"/>
          <p:cNvSpPr/>
          <p:nvPr/>
        </p:nvSpPr>
        <p:spPr>
          <a:xfrm>
            <a:off x="914400" y="3447288"/>
            <a:ext cx="731520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Inspecting products on a factory line, monitoring crops from drones, reading </a:t>
            </a:r>
            <a:r>
              <a:rPr lang="en-US" sz="1100" dirty="0" err="1">
                <a:solidFill>
                  <a:srgbClr val="64748B"/>
                </a:solidFill>
                <a:latin typeface="Calibri" pitchFamily="34" charset="0"/>
                <a:ea typeface="Calibri" pitchFamily="34" charset="-122"/>
                <a:cs typeface="Calibri" pitchFamily="34" charset="-120"/>
              </a:rPr>
              <a:t>licence</a:t>
            </a:r>
            <a:r>
              <a:rPr lang="en-US" sz="1100" dirty="0">
                <a:solidFill>
                  <a:srgbClr val="64748B"/>
                </a:solidFill>
                <a:latin typeface="Calibri" pitchFamily="34" charset="0"/>
                <a:ea typeface="Calibri" pitchFamily="34" charset="-122"/>
                <a:cs typeface="Calibri" pitchFamily="34" charset="-120"/>
              </a:rPr>
              <a:t> plates; tasks too repetitive or fast for humans alone.</a:t>
            </a:r>
            <a:endParaRPr lang="en-US" sz="1100" dirty="0"/>
          </a:p>
        </p:txBody>
      </p:sp>
      <p:sp>
        <p:nvSpPr>
          <p:cNvPr id="16" name="Shape 14"/>
          <p:cNvSpPr/>
          <p:nvPr/>
        </p:nvSpPr>
        <p:spPr>
          <a:xfrm>
            <a:off x="640080" y="3895344"/>
            <a:ext cx="786384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7" name="Shape 15"/>
          <p:cNvSpPr/>
          <p:nvPr/>
        </p:nvSpPr>
        <p:spPr>
          <a:xfrm>
            <a:off x="640080" y="3895344"/>
            <a:ext cx="64008" cy="640080"/>
          </a:xfrm>
          <a:prstGeom prst="rect">
            <a:avLst/>
          </a:prstGeom>
          <a:solidFill>
            <a:srgbClr val="0891B2"/>
          </a:solidFill>
          <a:ln/>
        </p:spPr>
        <p:txBody>
          <a:bodyPr/>
          <a:lstStyle/>
          <a:p>
            <a:endParaRPr lang="en-AE"/>
          </a:p>
        </p:txBody>
      </p:sp>
      <p:sp>
        <p:nvSpPr>
          <p:cNvPr id="18" name="Text 16"/>
          <p:cNvSpPr/>
          <p:nvPr/>
        </p:nvSpPr>
        <p:spPr>
          <a:xfrm>
            <a:off x="914400" y="3941064"/>
            <a:ext cx="2743200" cy="25603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Bridging the physical–digital gap</a:t>
            </a:r>
            <a:endParaRPr lang="en-US" sz="1400" dirty="0"/>
          </a:p>
        </p:txBody>
      </p:sp>
      <p:sp>
        <p:nvSpPr>
          <p:cNvPr id="19" name="Text 17"/>
          <p:cNvSpPr/>
          <p:nvPr/>
        </p:nvSpPr>
        <p:spPr>
          <a:xfrm>
            <a:off x="914400" y="4197096"/>
            <a:ext cx="731520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CV lets software reason about the real world. It turns pixels into measurements, decisions, and actions.</a:t>
            </a:r>
            <a:endParaRPr lang="en-US" sz="1100" dirty="0"/>
          </a:p>
        </p:txBody>
      </p:sp>
      <p:sp>
        <p:nvSpPr>
          <p:cNvPr id="20" name="Shape 18"/>
          <p:cNvSpPr/>
          <p:nvPr/>
        </p:nvSpPr>
        <p:spPr>
          <a:xfrm>
            <a:off x="0" y="4754880"/>
            <a:ext cx="9144000" cy="388620"/>
          </a:xfrm>
          <a:prstGeom prst="rect">
            <a:avLst/>
          </a:prstGeom>
          <a:solidFill>
            <a:srgbClr val="0F172A"/>
          </a:solidFill>
          <a:ln/>
        </p:spPr>
        <p:txBody>
          <a:bodyPr/>
          <a:lstStyle/>
          <a:p>
            <a:endParaRPr lang="en-AE"/>
          </a:p>
        </p:txBody>
      </p:sp>
      <p:sp>
        <p:nvSpPr>
          <p:cNvPr id="21" name="Text 19"/>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Introduction</a:t>
            </a:r>
            <a:endParaRPr lang="en-US" sz="900" dirty="0"/>
          </a:p>
        </p:txBody>
      </p:sp>
      <p:sp>
        <p:nvSpPr>
          <p:cNvPr id="22" name="Text 20"/>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a:t>
            </a:r>
            <a:r>
              <a:rPr lang="en-US" sz="900">
                <a:solidFill>
                  <a:srgbClr val="0891B2"/>
                </a:solidFill>
                <a:latin typeface="Calibri" pitchFamily="34" charset="0"/>
                <a:ea typeface="Calibri" pitchFamily="34" charset="-122"/>
                <a:cs typeface="Calibri" pitchFamily="34" charset="-120"/>
              </a:rPr>
              <a:t>MARS 2026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2584D-EE9F-EEEC-C5F2-DD80396E1E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DC66ED-B81A-8DDD-B003-9583CB6D4963}"/>
              </a:ext>
            </a:extLst>
          </p:cNvPr>
          <p:cNvSpPr/>
          <p:nvPr/>
        </p:nvSpPr>
        <p:spPr>
          <a:xfrm>
            <a:off x="640080" y="36576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Trebuchet MS" pitchFamily="34" charset="0"/>
                <a:ea typeface="Trebuchet MS" pitchFamily="34" charset="-122"/>
                <a:cs typeface="Trebuchet MS" pitchFamily="34" charset="-120"/>
              </a:rPr>
              <a:t>Applications of Computer Vision</a:t>
            </a:r>
            <a:endParaRPr lang="en-US" sz="3000" dirty="0"/>
          </a:p>
        </p:txBody>
      </p:sp>
      <p:sp>
        <p:nvSpPr>
          <p:cNvPr id="3" name="Shape 1">
            <a:extLst>
              <a:ext uri="{FF2B5EF4-FFF2-40B4-BE49-F238E27FC236}">
                <a16:creationId xmlns:a16="http://schemas.microsoft.com/office/drawing/2014/main" id="{2AA1BF05-9C64-DE03-C016-0F288A816025}"/>
              </a:ext>
            </a:extLst>
          </p:cNvPr>
          <p:cNvSpPr/>
          <p:nvPr/>
        </p:nvSpPr>
        <p:spPr>
          <a:xfrm>
            <a:off x="457200" y="1097280"/>
            <a:ext cx="2651760" cy="1600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4" name="Shape 2">
            <a:extLst>
              <a:ext uri="{FF2B5EF4-FFF2-40B4-BE49-F238E27FC236}">
                <a16:creationId xmlns:a16="http://schemas.microsoft.com/office/drawing/2014/main" id="{D4458E5B-7777-29AA-3F15-415B09A4D5E8}"/>
              </a:ext>
            </a:extLst>
          </p:cNvPr>
          <p:cNvSpPr/>
          <p:nvPr/>
        </p:nvSpPr>
        <p:spPr>
          <a:xfrm>
            <a:off x="640080" y="1280160"/>
            <a:ext cx="502920" cy="502920"/>
          </a:xfrm>
          <a:prstGeom prst="ellipse">
            <a:avLst/>
          </a:prstGeom>
          <a:solidFill>
            <a:srgbClr val="0891B2"/>
          </a:solidFill>
          <a:ln/>
        </p:spPr>
        <p:txBody>
          <a:bodyPr/>
          <a:lstStyle/>
          <a:p>
            <a:endParaRPr lang="en-AE"/>
          </a:p>
        </p:txBody>
      </p:sp>
      <p:pic>
        <p:nvPicPr>
          <p:cNvPr id="5" name="Image 0" descr="preencoded.png">
            <a:extLst>
              <a:ext uri="{FF2B5EF4-FFF2-40B4-BE49-F238E27FC236}">
                <a16:creationId xmlns:a16="http://schemas.microsoft.com/office/drawing/2014/main" id="{A85E8717-D651-0C78-226C-9C92EFF9FD1A}"/>
              </a:ext>
            </a:extLst>
          </p:cNvPr>
          <p:cNvPicPr>
            <a:picLocks noChangeAspect="1"/>
          </p:cNvPicPr>
          <p:nvPr/>
        </p:nvPicPr>
        <p:blipFill>
          <a:blip r:embed="rId3"/>
          <a:stretch>
            <a:fillRect/>
          </a:stretch>
        </p:blipFill>
        <p:spPr>
          <a:xfrm>
            <a:off x="749808" y="1389888"/>
            <a:ext cx="283464" cy="283464"/>
          </a:xfrm>
          <a:prstGeom prst="rect">
            <a:avLst/>
          </a:prstGeom>
        </p:spPr>
      </p:pic>
      <p:sp>
        <p:nvSpPr>
          <p:cNvPr id="6" name="Text 3">
            <a:extLst>
              <a:ext uri="{FF2B5EF4-FFF2-40B4-BE49-F238E27FC236}">
                <a16:creationId xmlns:a16="http://schemas.microsoft.com/office/drawing/2014/main" id="{D39CCF4D-35A9-DDC4-5A3B-D68032EE3F90}"/>
              </a:ext>
            </a:extLst>
          </p:cNvPr>
          <p:cNvSpPr/>
          <p:nvPr/>
        </p:nvSpPr>
        <p:spPr>
          <a:xfrm>
            <a:off x="1280160" y="1280160"/>
            <a:ext cx="1691640" cy="45720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Self-Driving Cars</a:t>
            </a:r>
            <a:endParaRPr lang="en-US" sz="1400" dirty="0"/>
          </a:p>
        </p:txBody>
      </p:sp>
      <p:sp>
        <p:nvSpPr>
          <p:cNvPr id="7" name="Text 4">
            <a:extLst>
              <a:ext uri="{FF2B5EF4-FFF2-40B4-BE49-F238E27FC236}">
                <a16:creationId xmlns:a16="http://schemas.microsoft.com/office/drawing/2014/main" id="{0E6DE2F1-2937-1323-3851-686FDE071347}"/>
              </a:ext>
            </a:extLst>
          </p:cNvPr>
          <p:cNvSpPr/>
          <p:nvPr/>
        </p:nvSpPr>
        <p:spPr>
          <a:xfrm>
            <a:off x="640080" y="1874520"/>
            <a:ext cx="22860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Lane detection, pedestrian recognition, obstacle avoidance in real time</a:t>
            </a:r>
            <a:endParaRPr lang="en-US" sz="1100" dirty="0"/>
          </a:p>
        </p:txBody>
      </p:sp>
      <p:sp>
        <p:nvSpPr>
          <p:cNvPr id="8" name="Shape 5">
            <a:extLst>
              <a:ext uri="{FF2B5EF4-FFF2-40B4-BE49-F238E27FC236}">
                <a16:creationId xmlns:a16="http://schemas.microsoft.com/office/drawing/2014/main" id="{26D98A85-9AD2-4BF3-8226-410DA9A397F6}"/>
              </a:ext>
            </a:extLst>
          </p:cNvPr>
          <p:cNvSpPr/>
          <p:nvPr/>
        </p:nvSpPr>
        <p:spPr>
          <a:xfrm>
            <a:off x="3337560" y="1097280"/>
            <a:ext cx="2651760" cy="1600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9" name="Shape 6">
            <a:extLst>
              <a:ext uri="{FF2B5EF4-FFF2-40B4-BE49-F238E27FC236}">
                <a16:creationId xmlns:a16="http://schemas.microsoft.com/office/drawing/2014/main" id="{01AA64B6-2F9E-CF4C-DBE2-1D85DB04194D}"/>
              </a:ext>
            </a:extLst>
          </p:cNvPr>
          <p:cNvSpPr/>
          <p:nvPr/>
        </p:nvSpPr>
        <p:spPr>
          <a:xfrm>
            <a:off x="3520440" y="1280160"/>
            <a:ext cx="502920" cy="502920"/>
          </a:xfrm>
          <a:prstGeom prst="ellipse">
            <a:avLst/>
          </a:prstGeom>
          <a:solidFill>
            <a:srgbClr val="0891B2"/>
          </a:solidFill>
          <a:ln/>
        </p:spPr>
        <p:txBody>
          <a:bodyPr/>
          <a:lstStyle/>
          <a:p>
            <a:endParaRPr lang="en-AE"/>
          </a:p>
        </p:txBody>
      </p:sp>
      <p:pic>
        <p:nvPicPr>
          <p:cNvPr id="10" name="Image 1" descr="preencoded.png">
            <a:extLst>
              <a:ext uri="{FF2B5EF4-FFF2-40B4-BE49-F238E27FC236}">
                <a16:creationId xmlns:a16="http://schemas.microsoft.com/office/drawing/2014/main" id="{F0C868DD-37DB-F781-E910-BE1A8CDA856E}"/>
              </a:ext>
            </a:extLst>
          </p:cNvPr>
          <p:cNvPicPr>
            <a:picLocks noChangeAspect="1"/>
          </p:cNvPicPr>
          <p:nvPr/>
        </p:nvPicPr>
        <p:blipFill>
          <a:blip r:embed="rId4"/>
          <a:stretch>
            <a:fillRect/>
          </a:stretch>
        </p:blipFill>
        <p:spPr>
          <a:xfrm>
            <a:off x="3630168" y="1389888"/>
            <a:ext cx="283464" cy="283464"/>
          </a:xfrm>
          <a:prstGeom prst="rect">
            <a:avLst/>
          </a:prstGeom>
        </p:spPr>
      </p:pic>
      <p:sp>
        <p:nvSpPr>
          <p:cNvPr id="11" name="Text 7">
            <a:extLst>
              <a:ext uri="{FF2B5EF4-FFF2-40B4-BE49-F238E27FC236}">
                <a16:creationId xmlns:a16="http://schemas.microsoft.com/office/drawing/2014/main" id="{FB230D26-62A7-F6C3-C4FA-A63A8D025BF4}"/>
              </a:ext>
            </a:extLst>
          </p:cNvPr>
          <p:cNvSpPr/>
          <p:nvPr/>
        </p:nvSpPr>
        <p:spPr>
          <a:xfrm>
            <a:off x="4160520" y="1280160"/>
            <a:ext cx="1691640" cy="45720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Medical Imaging</a:t>
            </a:r>
            <a:endParaRPr lang="en-US" sz="1400" dirty="0"/>
          </a:p>
        </p:txBody>
      </p:sp>
      <p:sp>
        <p:nvSpPr>
          <p:cNvPr id="12" name="Text 8">
            <a:extLst>
              <a:ext uri="{FF2B5EF4-FFF2-40B4-BE49-F238E27FC236}">
                <a16:creationId xmlns:a16="http://schemas.microsoft.com/office/drawing/2014/main" id="{CF5B2633-6ACD-C616-F5ED-F3DDCAD5C125}"/>
              </a:ext>
            </a:extLst>
          </p:cNvPr>
          <p:cNvSpPr/>
          <p:nvPr/>
        </p:nvSpPr>
        <p:spPr>
          <a:xfrm>
            <a:off x="3520440" y="1874520"/>
            <a:ext cx="22860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Detecting tumours in X-rays, analysing retinal scans, surgical guidance</a:t>
            </a:r>
            <a:endParaRPr lang="en-US" sz="1100" dirty="0"/>
          </a:p>
        </p:txBody>
      </p:sp>
      <p:sp>
        <p:nvSpPr>
          <p:cNvPr id="13" name="Shape 9">
            <a:extLst>
              <a:ext uri="{FF2B5EF4-FFF2-40B4-BE49-F238E27FC236}">
                <a16:creationId xmlns:a16="http://schemas.microsoft.com/office/drawing/2014/main" id="{EE4F5826-1B4A-2250-3224-1BDF7945C3FD}"/>
              </a:ext>
            </a:extLst>
          </p:cNvPr>
          <p:cNvSpPr/>
          <p:nvPr/>
        </p:nvSpPr>
        <p:spPr>
          <a:xfrm>
            <a:off x="6217920" y="1097280"/>
            <a:ext cx="2651760" cy="1600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4" name="Shape 10">
            <a:extLst>
              <a:ext uri="{FF2B5EF4-FFF2-40B4-BE49-F238E27FC236}">
                <a16:creationId xmlns:a16="http://schemas.microsoft.com/office/drawing/2014/main" id="{0FF68021-DDDB-D28F-467B-743C3A9CEB76}"/>
              </a:ext>
            </a:extLst>
          </p:cNvPr>
          <p:cNvSpPr/>
          <p:nvPr/>
        </p:nvSpPr>
        <p:spPr>
          <a:xfrm>
            <a:off x="6400800" y="1280160"/>
            <a:ext cx="502920" cy="502920"/>
          </a:xfrm>
          <a:prstGeom prst="ellipse">
            <a:avLst/>
          </a:prstGeom>
          <a:solidFill>
            <a:srgbClr val="0891B2"/>
          </a:solidFill>
          <a:ln/>
        </p:spPr>
        <p:txBody>
          <a:bodyPr/>
          <a:lstStyle/>
          <a:p>
            <a:endParaRPr lang="en-AE"/>
          </a:p>
        </p:txBody>
      </p:sp>
      <p:pic>
        <p:nvPicPr>
          <p:cNvPr id="15" name="Image 2" descr="preencoded.png">
            <a:extLst>
              <a:ext uri="{FF2B5EF4-FFF2-40B4-BE49-F238E27FC236}">
                <a16:creationId xmlns:a16="http://schemas.microsoft.com/office/drawing/2014/main" id="{F16E2EF1-8AA6-F352-4E37-C6E8F5DAE230}"/>
              </a:ext>
            </a:extLst>
          </p:cNvPr>
          <p:cNvPicPr>
            <a:picLocks noChangeAspect="1"/>
          </p:cNvPicPr>
          <p:nvPr/>
        </p:nvPicPr>
        <p:blipFill>
          <a:blip r:embed="rId5"/>
          <a:stretch>
            <a:fillRect/>
          </a:stretch>
        </p:blipFill>
        <p:spPr>
          <a:xfrm>
            <a:off x="6510528" y="1389888"/>
            <a:ext cx="283464" cy="283464"/>
          </a:xfrm>
          <a:prstGeom prst="rect">
            <a:avLst/>
          </a:prstGeom>
        </p:spPr>
      </p:pic>
      <p:sp>
        <p:nvSpPr>
          <p:cNvPr id="16" name="Text 11">
            <a:extLst>
              <a:ext uri="{FF2B5EF4-FFF2-40B4-BE49-F238E27FC236}">
                <a16:creationId xmlns:a16="http://schemas.microsoft.com/office/drawing/2014/main" id="{C4459AB9-4A18-E8B3-4572-EE8B29587A46}"/>
              </a:ext>
            </a:extLst>
          </p:cNvPr>
          <p:cNvSpPr/>
          <p:nvPr/>
        </p:nvSpPr>
        <p:spPr>
          <a:xfrm>
            <a:off x="7040880" y="1280160"/>
            <a:ext cx="1691640" cy="45720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Robotics &amp; Manufacturing</a:t>
            </a:r>
            <a:endParaRPr lang="en-US" sz="1400" dirty="0"/>
          </a:p>
        </p:txBody>
      </p:sp>
      <p:sp>
        <p:nvSpPr>
          <p:cNvPr id="17" name="Text 12">
            <a:extLst>
              <a:ext uri="{FF2B5EF4-FFF2-40B4-BE49-F238E27FC236}">
                <a16:creationId xmlns:a16="http://schemas.microsoft.com/office/drawing/2014/main" id="{7423742B-B8E7-FE8F-E301-D819457D60F9}"/>
              </a:ext>
            </a:extLst>
          </p:cNvPr>
          <p:cNvSpPr/>
          <p:nvPr/>
        </p:nvSpPr>
        <p:spPr>
          <a:xfrm>
            <a:off x="6400800" y="1874520"/>
            <a:ext cx="22860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Pick-and-place, quality inspection, bin picking, visual SLAM for navigation</a:t>
            </a:r>
            <a:endParaRPr lang="en-US" sz="1100" dirty="0"/>
          </a:p>
        </p:txBody>
      </p:sp>
      <p:sp>
        <p:nvSpPr>
          <p:cNvPr id="33" name="Shape 25">
            <a:extLst>
              <a:ext uri="{FF2B5EF4-FFF2-40B4-BE49-F238E27FC236}">
                <a16:creationId xmlns:a16="http://schemas.microsoft.com/office/drawing/2014/main" id="{2E3AC2DD-DCEF-EB5B-EF3C-D3F5EFFB599D}"/>
              </a:ext>
            </a:extLst>
          </p:cNvPr>
          <p:cNvSpPr/>
          <p:nvPr/>
        </p:nvSpPr>
        <p:spPr>
          <a:xfrm>
            <a:off x="0" y="4754880"/>
            <a:ext cx="9144000" cy="388620"/>
          </a:xfrm>
          <a:prstGeom prst="rect">
            <a:avLst/>
          </a:prstGeom>
          <a:solidFill>
            <a:srgbClr val="0F172A"/>
          </a:solidFill>
          <a:ln/>
        </p:spPr>
        <p:txBody>
          <a:bodyPr/>
          <a:lstStyle/>
          <a:p>
            <a:endParaRPr lang="en-AE"/>
          </a:p>
        </p:txBody>
      </p:sp>
      <p:sp>
        <p:nvSpPr>
          <p:cNvPr id="34" name="Text 26">
            <a:extLst>
              <a:ext uri="{FF2B5EF4-FFF2-40B4-BE49-F238E27FC236}">
                <a16:creationId xmlns:a16="http://schemas.microsoft.com/office/drawing/2014/main" id="{02F2C432-C2A8-CD48-FA8C-772E36ED6120}"/>
              </a:ext>
            </a:extLst>
          </p:cNvPr>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Introduction</a:t>
            </a:r>
            <a:endParaRPr lang="en-US" sz="900" dirty="0"/>
          </a:p>
        </p:txBody>
      </p:sp>
      <p:sp>
        <p:nvSpPr>
          <p:cNvPr id="35" name="Text 27">
            <a:extLst>
              <a:ext uri="{FF2B5EF4-FFF2-40B4-BE49-F238E27FC236}">
                <a16:creationId xmlns:a16="http://schemas.microsoft.com/office/drawing/2014/main" id="{890E9F91-63D4-66FB-E602-EDBA9AF68DC0}"/>
              </a:ext>
            </a:extLst>
          </p:cNvPr>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a:t>
            </a:r>
            <a:r>
              <a:rPr lang="en-US" sz="900">
                <a:solidFill>
                  <a:srgbClr val="0891B2"/>
                </a:solidFill>
                <a:latin typeface="Calibri" pitchFamily="34" charset="0"/>
                <a:ea typeface="Calibri" pitchFamily="34" charset="-122"/>
                <a:cs typeface="Calibri" pitchFamily="34" charset="-120"/>
              </a:rPr>
              <a:t>MARS 2026</a:t>
            </a:r>
            <a:endParaRPr lang="en-US" sz="900" dirty="0"/>
          </a:p>
        </p:txBody>
      </p:sp>
      <p:pic>
        <p:nvPicPr>
          <p:cNvPr id="1026" name="Picture 2" descr="Waymo self-driving cars reveals more test fleets across Texas">
            <a:extLst>
              <a:ext uri="{FF2B5EF4-FFF2-40B4-BE49-F238E27FC236}">
                <a16:creationId xmlns:a16="http://schemas.microsoft.com/office/drawing/2014/main" id="{15042D0C-F359-9350-B82F-AF786D663F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844312"/>
            <a:ext cx="2651760" cy="176784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438CA845-6733-06D1-C565-C2C29F25DE68}"/>
              </a:ext>
            </a:extLst>
          </p:cNvPr>
          <p:cNvPicPr>
            <a:picLocks noChangeAspect="1"/>
          </p:cNvPicPr>
          <p:nvPr/>
        </p:nvPicPr>
        <p:blipFill>
          <a:blip r:embed="rId7"/>
          <a:stretch>
            <a:fillRect/>
          </a:stretch>
        </p:blipFill>
        <p:spPr>
          <a:xfrm>
            <a:off x="3337560" y="2807208"/>
            <a:ext cx="2651760" cy="1822402"/>
          </a:xfrm>
          <a:prstGeom prst="rect">
            <a:avLst/>
          </a:prstGeom>
        </p:spPr>
      </p:pic>
      <p:pic>
        <p:nvPicPr>
          <p:cNvPr id="1030" name="Picture 6" descr="How SLAM and 3D Vision Enable Marker-Free Robot Mobility">
            <a:extLst>
              <a:ext uri="{FF2B5EF4-FFF2-40B4-BE49-F238E27FC236}">
                <a16:creationId xmlns:a16="http://schemas.microsoft.com/office/drawing/2014/main" id="{28A217F0-553F-17C1-EDA1-4C277702371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7080"/>
          <a:stretch>
            <a:fillRect/>
          </a:stretch>
        </p:blipFill>
        <p:spPr bwMode="auto">
          <a:xfrm>
            <a:off x="6217920" y="2788920"/>
            <a:ext cx="2651760" cy="184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89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Trebuchet MS" pitchFamily="34" charset="0"/>
                <a:ea typeface="Trebuchet MS" pitchFamily="34" charset="-122"/>
                <a:cs typeface="Trebuchet MS" pitchFamily="34" charset="-120"/>
              </a:rPr>
              <a:t>Applications of Computer Vision</a:t>
            </a:r>
            <a:endParaRPr lang="en-US" sz="3000" dirty="0"/>
          </a:p>
        </p:txBody>
      </p:sp>
      <p:sp>
        <p:nvSpPr>
          <p:cNvPr id="18" name="Shape 13"/>
          <p:cNvSpPr/>
          <p:nvPr/>
        </p:nvSpPr>
        <p:spPr>
          <a:xfrm>
            <a:off x="457200" y="2880360"/>
            <a:ext cx="2651760" cy="1600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9" name="Shape 14"/>
          <p:cNvSpPr/>
          <p:nvPr/>
        </p:nvSpPr>
        <p:spPr>
          <a:xfrm>
            <a:off x="640080" y="3063240"/>
            <a:ext cx="502920" cy="502920"/>
          </a:xfrm>
          <a:prstGeom prst="ellipse">
            <a:avLst/>
          </a:prstGeom>
          <a:solidFill>
            <a:srgbClr val="0891B2"/>
          </a:solidFill>
          <a:ln/>
        </p:spPr>
        <p:txBody>
          <a:bodyPr/>
          <a:lstStyle/>
          <a:p>
            <a:endParaRPr lang="en-AE"/>
          </a:p>
        </p:txBody>
      </p:sp>
      <p:pic>
        <p:nvPicPr>
          <p:cNvPr id="20" name="Image 3" descr="preencoded.png"/>
          <p:cNvPicPr>
            <a:picLocks noChangeAspect="1"/>
          </p:cNvPicPr>
          <p:nvPr/>
        </p:nvPicPr>
        <p:blipFill>
          <a:blip r:embed="rId3"/>
          <a:stretch>
            <a:fillRect/>
          </a:stretch>
        </p:blipFill>
        <p:spPr>
          <a:xfrm>
            <a:off x="749808" y="3172968"/>
            <a:ext cx="283464" cy="283464"/>
          </a:xfrm>
          <a:prstGeom prst="rect">
            <a:avLst/>
          </a:prstGeom>
        </p:spPr>
      </p:pic>
      <p:sp>
        <p:nvSpPr>
          <p:cNvPr id="21" name="Text 15"/>
          <p:cNvSpPr/>
          <p:nvPr/>
        </p:nvSpPr>
        <p:spPr>
          <a:xfrm>
            <a:off x="1280160" y="3063240"/>
            <a:ext cx="1691640" cy="45720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Agriculture</a:t>
            </a:r>
            <a:endParaRPr lang="en-US" sz="1400" dirty="0"/>
          </a:p>
        </p:txBody>
      </p:sp>
      <p:sp>
        <p:nvSpPr>
          <p:cNvPr id="22" name="Text 16"/>
          <p:cNvSpPr/>
          <p:nvPr/>
        </p:nvSpPr>
        <p:spPr>
          <a:xfrm>
            <a:off x="640080" y="3657600"/>
            <a:ext cx="22860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Crop health monitoring, weed detection, yield estimation from drone imagery</a:t>
            </a:r>
            <a:endParaRPr lang="en-US" sz="1100" dirty="0"/>
          </a:p>
        </p:txBody>
      </p:sp>
      <p:sp>
        <p:nvSpPr>
          <p:cNvPr id="23" name="Shape 17"/>
          <p:cNvSpPr/>
          <p:nvPr/>
        </p:nvSpPr>
        <p:spPr>
          <a:xfrm>
            <a:off x="3337560" y="2880360"/>
            <a:ext cx="2651760" cy="1600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24" name="Shape 18"/>
          <p:cNvSpPr/>
          <p:nvPr/>
        </p:nvSpPr>
        <p:spPr>
          <a:xfrm>
            <a:off x="3520440" y="3063240"/>
            <a:ext cx="502920" cy="502920"/>
          </a:xfrm>
          <a:prstGeom prst="ellipse">
            <a:avLst/>
          </a:prstGeom>
          <a:solidFill>
            <a:srgbClr val="0891B2"/>
          </a:solidFill>
          <a:ln/>
        </p:spPr>
        <p:txBody>
          <a:bodyPr/>
          <a:lstStyle/>
          <a:p>
            <a:endParaRPr lang="en-AE"/>
          </a:p>
        </p:txBody>
      </p:sp>
      <p:pic>
        <p:nvPicPr>
          <p:cNvPr id="25" name="Image 4" descr="preencoded.png"/>
          <p:cNvPicPr>
            <a:picLocks noChangeAspect="1"/>
          </p:cNvPicPr>
          <p:nvPr/>
        </p:nvPicPr>
        <p:blipFill>
          <a:blip r:embed="rId4"/>
          <a:stretch>
            <a:fillRect/>
          </a:stretch>
        </p:blipFill>
        <p:spPr>
          <a:xfrm>
            <a:off x="3630168" y="3172968"/>
            <a:ext cx="283464" cy="283464"/>
          </a:xfrm>
          <a:prstGeom prst="rect">
            <a:avLst/>
          </a:prstGeom>
        </p:spPr>
      </p:pic>
      <p:sp>
        <p:nvSpPr>
          <p:cNvPr id="26" name="Text 19"/>
          <p:cNvSpPr/>
          <p:nvPr/>
        </p:nvSpPr>
        <p:spPr>
          <a:xfrm>
            <a:off x="4160520" y="3063240"/>
            <a:ext cx="1691640" cy="45720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AR / VR &amp; Gaming</a:t>
            </a:r>
            <a:endParaRPr lang="en-US" sz="1400" dirty="0"/>
          </a:p>
        </p:txBody>
      </p:sp>
      <p:sp>
        <p:nvSpPr>
          <p:cNvPr id="27" name="Text 20"/>
          <p:cNvSpPr/>
          <p:nvPr/>
        </p:nvSpPr>
        <p:spPr>
          <a:xfrm>
            <a:off x="3520440" y="3657600"/>
            <a:ext cx="22860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Face tracking, hand pose estimation, scene reconstruction, depth sensing</a:t>
            </a:r>
            <a:endParaRPr lang="en-US" sz="1100" dirty="0"/>
          </a:p>
        </p:txBody>
      </p:sp>
      <p:sp>
        <p:nvSpPr>
          <p:cNvPr id="28" name="Shape 21"/>
          <p:cNvSpPr/>
          <p:nvPr/>
        </p:nvSpPr>
        <p:spPr>
          <a:xfrm>
            <a:off x="6217920" y="2880360"/>
            <a:ext cx="2651760" cy="1600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29" name="Shape 22"/>
          <p:cNvSpPr/>
          <p:nvPr/>
        </p:nvSpPr>
        <p:spPr>
          <a:xfrm>
            <a:off x="6400800" y="3063240"/>
            <a:ext cx="502920" cy="502920"/>
          </a:xfrm>
          <a:prstGeom prst="ellipse">
            <a:avLst/>
          </a:prstGeom>
          <a:solidFill>
            <a:srgbClr val="0891B2"/>
          </a:solidFill>
          <a:ln/>
        </p:spPr>
        <p:txBody>
          <a:bodyPr/>
          <a:lstStyle/>
          <a:p>
            <a:endParaRPr lang="en-AE"/>
          </a:p>
        </p:txBody>
      </p:sp>
      <p:pic>
        <p:nvPicPr>
          <p:cNvPr id="30" name="Image 5" descr="preencoded.png"/>
          <p:cNvPicPr>
            <a:picLocks noChangeAspect="1"/>
          </p:cNvPicPr>
          <p:nvPr/>
        </p:nvPicPr>
        <p:blipFill>
          <a:blip r:embed="rId5"/>
          <a:stretch>
            <a:fillRect/>
          </a:stretch>
        </p:blipFill>
        <p:spPr>
          <a:xfrm>
            <a:off x="6510528" y="3172968"/>
            <a:ext cx="283464" cy="283464"/>
          </a:xfrm>
          <a:prstGeom prst="rect">
            <a:avLst/>
          </a:prstGeom>
        </p:spPr>
      </p:pic>
      <p:sp>
        <p:nvSpPr>
          <p:cNvPr id="31" name="Text 23"/>
          <p:cNvSpPr/>
          <p:nvPr/>
        </p:nvSpPr>
        <p:spPr>
          <a:xfrm>
            <a:off x="7040880" y="3063240"/>
            <a:ext cx="1691640" cy="45720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Security &amp; Surveillance</a:t>
            </a:r>
            <a:endParaRPr lang="en-US" sz="1400" dirty="0"/>
          </a:p>
        </p:txBody>
      </p:sp>
      <p:sp>
        <p:nvSpPr>
          <p:cNvPr id="32" name="Text 24"/>
          <p:cNvSpPr/>
          <p:nvPr/>
        </p:nvSpPr>
        <p:spPr>
          <a:xfrm>
            <a:off x="6400800" y="3657600"/>
            <a:ext cx="22860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Motion detection, anomaly detection, licence plate recognition</a:t>
            </a:r>
            <a:endParaRPr lang="en-US" sz="1100" dirty="0"/>
          </a:p>
        </p:txBody>
      </p:sp>
      <p:sp>
        <p:nvSpPr>
          <p:cNvPr id="33" name="Shape 25"/>
          <p:cNvSpPr/>
          <p:nvPr/>
        </p:nvSpPr>
        <p:spPr>
          <a:xfrm>
            <a:off x="0" y="4754880"/>
            <a:ext cx="9144000" cy="388620"/>
          </a:xfrm>
          <a:prstGeom prst="rect">
            <a:avLst/>
          </a:prstGeom>
          <a:solidFill>
            <a:srgbClr val="0F172A"/>
          </a:solidFill>
          <a:ln/>
        </p:spPr>
        <p:txBody>
          <a:bodyPr/>
          <a:lstStyle/>
          <a:p>
            <a:endParaRPr lang="en-AE"/>
          </a:p>
        </p:txBody>
      </p:sp>
      <p:sp>
        <p:nvSpPr>
          <p:cNvPr id="34" name="Text 26"/>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Introduction</a:t>
            </a:r>
            <a:endParaRPr lang="en-US" sz="900" dirty="0"/>
          </a:p>
        </p:txBody>
      </p:sp>
      <p:sp>
        <p:nvSpPr>
          <p:cNvPr id="35" name="Text 27"/>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a:t>
            </a:r>
            <a:r>
              <a:rPr lang="en-US" sz="900">
                <a:solidFill>
                  <a:srgbClr val="0891B2"/>
                </a:solidFill>
                <a:latin typeface="Calibri" pitchFamily="34" charset="0"/>
                <a:ea typeface="Calibri" pitchFamily="34" charset="-122"/>
                <a:cs typeface="Calibri" pitchFamily="34" charset="-120"/>
              </a:rPr>
              <a:t>MARS 2026</a:t>
            </a:r>
            <a:endParaRPr lang="en-US" sz="900" dirty="0"/>
          </a:p>
        </p:txBody>
      </p:sp>
      <p:pic>
        <p:nvPicPr>
          <p:cNvPr id="2050" name="Picture 2" descr="How Robots are used in Agriculture - Parvalux">
            <a:extLst>
              <a:ext uri="{FF2B5EF4-FFF2-40B4-BE49-F238E27FC236}">
                <a16:creationId xmlns:a16="http://schemas.microsoft.com/office/drawing/2014/main" id="{EE76400E-500C-ACF5-8C86-2990838AB0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002064"/>
            <a:ext cx="2651760" cy="17685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entle introduction to 2D Hand Pose Estimation: Approach Explained | by ...">
            <a:extLst>
              <a:ext uri="{FF2B5EF4-FFF2-40B4-BE49-F238E27FC236}">
                <a16:creationId xmlns:a16="http://schemas.microsoft.com/office/drawing/2014/main" id="{7E39A5D4-0030-7223-E4E6-62F5455519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5802" y="1222968"/>
            <a:ext cx="2653518" cy="132675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Motion Detection Technology is Revolutionizing Security, Automation ...">
            <a:extLst>
              <a:ext uri="{FF2B5EF4-FFF2-40B4-BE49-F238E27FC236}">
                <a16:creationId xmlns:a16="http://schemas.microsoft.com/office/drawing/2014/main" id="{A3F83330-5704-DE0D-7C64-034D6A2710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6162" y="1222968"/>
            <a:ext cx="2668341" cy="13267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Workshop Agenda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584023"/>
            <a:ext cx="365760" cy="36576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713232" y="1657175"/>
            <a:ext cx="219456" cy="219456"/>
          </a:xfrm>
          <a:prstGeom prst="rect">
            <a:avLst/>
          </a:prstGeom>
        </p:spPr>
      </p:pic>
      <p:sp>
        <p:nvSpPr>
          <p:cNvPr id="6" name="Text 3"/>
          <p:cNvSpPr/>
          <p:nvPr/>
        </p:nvSpPr>
        <p:spPr>
          <a:xfrm>
            <a:off x="1115568" y="1547447"/>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1417320" y="1547447"/>
            <a:ext cx="4114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Images &amp; Colour Channels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1417320" y="1785191"/>
            <a:ext cx="5029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Reading images, BGR channels, splitting &amp; visualising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640080" y="2114375"/>
            <a:ext cx="365760" cy="36576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4"/>
          <a:stretch>
            <a:fillRect/>
          </a:stretch>
        </p:blipFill>
        <p:spPr>
          <a:xfrm>
            <a:off x="713232" y="2187527"/>
            <a:ext cx="219456" cy="219456"/>
          </a:xfrm>
          <a:prstGeom prst="rect">
            <a:avLst/>
          </a:prstGeom>
        </p:spPr>
      </p:pic>
      <p:sp>
        <p:nvSpPr>
          <p:cNvPr id="11" name="Text 7"/>
          <p:cNvSpPr/>
          <p:nvPr/>
        </p:nvSpPr>
        <p:spPr>
          <a:xfrm>
            <a:off x="1115568" y="2077799"/>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1417320" y="2077799"/>
            <a:ext cx="4114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Image Operations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1417320" y="2315543"/>
            <a:ext cx="5029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Grayscale, cropping, resizing, pixel manipulation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640080" y="2644727"/>
            <a:ext cx="365760" cy="36576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2" descr="preencoded.png"/>
          <p:cNvPicPr>
            <a:picLocks noChangeAspect="1"/>
          </p:cNvPicPr>
          <p:nvPr/>
        </p:nvPicPr>
        <p:blipFill>
          <a:blip r:embed="rId5"/>
          <a:stretch>
            <a:fillRect/>
          </a:stretch>
        </p:blipFill>
        <p:spPr>
          <a:xfrm>
            <a:off x="713232" y="2717879"/>
            <a:ext cx="219456" cy="219456"/>
          </a:xfrm>
          <a:prstGeom prst="rect">
            <a:avLst/>
          </a:prstGeom>
        </p:spPr>
      </p:pic>
      <p:sp>
        <p:nvSpPr>
          <p:cNvPr id="16" name="Text 11"/>
          <p:cNvSpPr/>
          <p:nvPr/>
        </p:nvSpPr>
        <p:spPr>
          <a:xfrm>
            <a:off x="1115568" y="2608151"/>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3</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2"/>
          <p:cNvSpPr/>
          <p:nvPr/>
        </p:nvSpPr>
        <p:spPr>
          <a:xfrm>
            <a:off x="1417320" y="2608151"/>
            <a:ext cx="4114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Webcam &amp; Kernel Filters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1417320" y="2845895"/>
            <a:ext cx="5029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Live video, convolution, blur, sharpen, edge detection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p:cNvSpPr/>
          <p:nvPr/>
        </p:nvSpPr>
        <p:spPr>
          <a:xfrm>
            <a:off x="640080" y="3175079"/>
            <a:ext cx="365760" cy="36576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713232" y="3248231"/>
            <a:ext cx="219456" cy="219456"/>
          </a:xfrm>
          <a:prstGeom prst="rect">
            <a:avLst/>
          </a:prstGeom>
        </p:spPr>
      </p:pic>
      <p:sp>
        <p:nvSpPr>
          <p:cNvPr id="21" name="Text 15"/>
          <p:cNvSpPr/>
          <p:nvPr/>
        </p:nvSpPr>
        <p:spPr>
          <a:xfrm>
            <a:off x="1115568" y="3138503"/>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4</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1417320" y="3138503"/>
            <a:ext cx="4114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Camera Calibration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7"/>
          <p:cNvSpPr/>
          <p:nvPr/>
        </p:nvSpPr>
        <p:spPr>
          <a:xfrm>
            <a:off x="1417320" y="3376247"/>
            <a:ext cx="5029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Chessboard detection, intrinsic parameters, undistortion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8"/>
          <p:cNvSpPr/>
          <p:nvPr/>
        </p:nvSpPr>
        <p:spPr>
          <a:xfrm>
            <a:off x="640080" y="3705431"/>
            <a:ext cx="365760" cy="36576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4" descr="preencoded.png"/>
          <p:cNvPicPr>
            <a:picLocks noChangeAspect="1"/>
          </p:cNvPicPr>
          <p:nvPr/>
        </p:nvPicPr>
        <p:blipFill>
          <a:blip r:embed="rId7"/>
          <a:stretch>
            <a:fillRect/>
          </a:stretch>
        </p:blipFill>
        <p:spPr>
          <a:xfrm>
            <a:off x="713232" y="3778583"/>
            <a:ext cx="219456" cy="219456"/>
          </a:xfrm>
          <a:prstGeom prst="rect">
            <a:avLst/>
          </a:prstGeom>
        </p:spPr>
      </p:pic>
      <p:sp>
        <p:nvSpPr>
          <p:cNvPr id="26" name="Text 19"/>
          <p:cNvSpPr/>
          <p:nvPr/>
        </p:nvSpPr>
        <p:spPr>
          <a:xfrm>
            <a:off x="1115568" y="3668855"/>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5</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0"/>
          <p:cNvSpPr/>
          <p:nvPr/>
        </p:nvSpPr>
        <p:spPr>
          <a:xfrm>
            <a:off x="1417320" y="3668855"/>
            <a:ext cx="4114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ArUco Markers &amp; Pose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1"/>
          <p:cNvSpPr/>
          <p:nvPr/>
        </p:nvSpPr>
        <p:spPr>
          <a:xfrm>
            <a:off x="1417320" y="3906599"/>
            <a:ext cx="5029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Marker detection, pose estimation, distance measurement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2"/>
          <p:cNvSpPr/>
          <p:nvPr/>
        </p:nvSpPr>
        <p:spPr>
          <a:xfrm>
            <a:off x="640080" y="4235783"/>
            <a:ext cx="365760" cy="36576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5" descr="preencoded.png"/>
          <p:cNvPicPr>
            <a:picLocks noChangeAspect="1"/>
          </p:cNvPicPr>
          <p:nvPr/>
        </p:nvPicPr>
        <p:blipFill>
          <a:blip r:embed="rId8"/>
          <a:stretch>
            <a:fillRect/>
          </a:stretch>
        </p:blipFill>
        <p:spPr>
          <a:xfrm>
            <a:off x="713232" y="4308935"/>
            <a:ext cx="219456" cy="219456"/>
          </a:xfrm>
          <a:prstGeom prst="rect">
            <a:avLst/>
          </a:prstGeom>
        </p:spPr>
      </p:pic>
      <p:sp>
        <p:nvSpPr>
          <p:cNvPr id="31" name="Text 23"/>
          <p:cNvSpPr/>
          <p:nvPr/>
        </p:nvSpPr>
        <p:spPr>
          <a:xfrm>
            <a:off x="1115568" y="4199207"/>
            <a:ext cx="2743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6</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4"/>
          <p:cNvSpPr/>
          <p:nvPr/>
        </p:nvSpPr>
        <p:spPr>
          <a:xfrm>
            <a:off x="1417320" y="4199207"/>
            <a:ext cx="4114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Object Recognition (CNNs)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5"/>
          <p:cNvSpPr/>
          <p:nvPr/>
        </p:nvSpPr>
        <p:spPr>
          <a:xfrm>
            <a:off x="1417320" y="4436951"/>
            <a:ext cx="5029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Deep learning intro &amp; Teachable Machine live demo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6"/>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7"/>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Computer Vision Workshop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8"/>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2">
            <a:extLst>
              <a:ext uri="{FF2B5EF4-FFF2-40B4-BE49-F238E27FC236}">
                <a16:creationId xmlns:a16="http://schemas.microsoft.com/office/drawing/2014/main" id="{1D11F1E4-CE0E-E47E-7E1E-6AC18C14B701}"/>
              </a:ext>
            </a:extLst>
          </p:cNvPr>
          <p:cNvSpPr/>
          <p:nvPr/>
        </p:nvSpPr>
        <p:spPr>
          <a:xfrm>
            <a:off x="640080" y="1014984"/>
            <a:ext cx="384048" cy="384048"/>
          </a:xfrm>
          <a:prstGeom prst="ellipse">
            <a:avLst/>
          </a:prstGeom>
          <a:solidFill>
            <a:srgbClr val="0891B2"/>
          </a:solidFill>
          <a:ln/>
        </p:spPr>
        <p:txBody>
          <a:bodyPr/>
          <a:lstStyle/>
          <a:p>
            <a:endParaRPr lang="en-AE"/>
          </a:p>
        </p:txBody>
      </p:sp>
      <p:pic>
        <p:nvPicPr>
          <p:cNvPr id="38" name="Image 0" descr="preencoded.png">
            <a:extLst>
              <a:ext uri="{FF2B5EF4-FFF2-40B4-BE49-F238E27FC236}">
                <a16:creationId xmlns:a16="http://schemas.microsoft.com/office/drawing/2014/main" id="{84AF5C5B-EC11-3009-CFF1-F6DBB0E46211}"/>
              </a:ext>
            </a:extLst>
          </p:cNvPr>
          <p:cNvPicPr>
            <a:picLocks noChangeAspect="1"/>
          </p:cNvPicPr>
          <p:nvPr/>
        </p:nvPicPr>
        <p:blipFill>
          <a:blip r:embed="rId9"/>
          <a:stretch>
            <a:fillRect/>
          </a:stretch>
        </p:blipFill>
        <p:spPr>
          <a:xfrm>
            <a:off x="713232" y="1088136"/>
            <a:ext cx="237744" cy="237744"/>
          </a:xfrm>
          <a:prstGeom prst="rect">
            <a:avLst/>
          </a:prstGeom>
        </p:spPr>
      </p:pic>
      <p:sp>
        <p:nvSpPr>
          <p:cNvPr id="39" name="Text 3">
            <a:extLst>
              <a:ext uri="{FF2B5EF4-FFF2-40B4-BE49-F238E27FC236}">
                <a16:creationId xmlns:a16="http://schemas.microsoft.com/office/drawing/2014/main" id="{6A244AA1-2944-2F4A-4236-6356D0BED8EC}"/>
              </a:ext>
            </a:extLst>
          </p:cNvPr>
          <p:cNvSpPr/>
          <p:nvPr/>
        </p:nvSpPr>
        <p:spPr>
          <a:xfrm>
            <a:off x="1143000" y="996696"/>
            <a:ext cx="320040" cy="411480"/>
          </a:xfrm>
          <a:prstGeom prst="rect">
            <a:avLst/>
          </a:prstGeom>
          <a:noFill/>
          <a:ln/>
        </p:spPr>
        <p:txBody>
          <a:bodyPr wrap="square" lIns="0" tIns="0" rIns="0" bIns="0" rtlCol="0" anchor="ctr"/>
          <a:lstStyle/>
          <a:p>
            <a:pPr marL="0" indent="0">
              <a:buNone/>
            </a:pPr>
            <a:r>
              <a:rPr lang="en-US" sz="1800" b="1" dirty="0">
                <a:solidFill>
                  <a:srgbClr val="0891B2"/>
                </a:solidFill>
                <a:latin typeface="Trebuchet MS" pitchFamily="34" charset="0"/>
                <a:ea typeface="Trebuchet MS" pitchFamily="34" charset="-122"/>
                <a:cs typeface="Trebuchet MS" pitchFamily="34" charset="-120"/>
              </a:rPr>
              <a:t>0</a:t>
            </a:r>
            <a:endParaRPr lang="en-US" sz="1800" dirty="0"/>
          </a:p>
        </p:txBody>
      </p:sp>
      <p:sp>
        <p:nvSpPr>
          <p:cNvPr id="40" name="Text 4">
            <a:extLst>
              <a:ext uri="{FF2B5EF4-FFF2-40B4-BE49-F238E27FC236}">
                <a16:creationId xmlns:a16="http://schemas.microsoft.com/office/drawing/2014/main" id="{2F7337E3-0FCB-188D-F4AB-76506B4341FA}"/>
              </a:ext>
            </a:extLst>
          </p:cNvPr>
          <p:cNvSpPr/>
          <p:nvPr/>
        </p:nvSpPr>
        <p:spPr>
          <a:xfrm>
            <a:off x="1417320" y="996696"/>
            <a:ext cx="4114800" cy="256032"/>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Setup &amp; Install</a:t>
            </a:r>
            <a:endParaRPr lang="en-US" sz="1500" dirty="0"/>
          </a:p>
        </p:txBody>
      </p:sp>
      <p:sp>
        <p:nvSpPr>
          <p:cNvPr id="41" name="Text 5">
            <a:extLst>
              <a:ext uri="{FF2B5EF4-FFF2-40B4-BE49-F238E27FC236}">
                <a16:creationId xmlns:a16="http://schemas.microsoft.com/office/drawing/2014/main" id="{C415A7D3-D4B8-0073-403C-FBDBDD868424}"/>
              </a:ext>
            </a:extLst>
          </p:cNvPr>
          <p:cNvSpPr/>
          <p:nvPr/>
        </p:nvSpPr>
        <p:spPr>
          <a:xfrm>
            <a:off x="1417320" y="1228813"/>
            <a:ext cx="4572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OpenCV, NumPy, Matplotlib</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Setup &amp; Installation</a:t>
            </a:r>
            <a:endParaRPr lang="en-US" sz="3200" dirty="0"/>
          </a:p>
        </p:txBody>
      </p:sp>
      <p:sp>
        <p:nvSpPr>
          <p:cNvPr id="3" name="Shape 1"/>
          <p:cNvSpPr/>
          <p:nvPr/>
        </p:nvSpPr>
        <p:spPr>
          <a:xfrm>
            <a:off x="640080" y="1280160"/>
            <a:ext cx="5029200" cy="2377440"/>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en-AE"/>
          </a:p>
        </p:txBody>
      </p:sp>
      <p:sp>
        <p:nvSpPr>
          <p:cNvPr id="4" name="Shape 2"/>
          <p:cNvSpPr/>
          <p:nvPr/>
        </p:nvSpPr>
        <p:spPr>
          <a:xfrm>
            <a:off x="914400" y="1417320"/>
            <a:ext cx="137160" cy="137160"/>
          </a:xfrm>
          <a:prstGeom prst="ellipse">
            <a:avLst/>
          </a:prstGeom>
          <a:solidFill>
            <a:srgbClr val="EF4444"/>
          </a:solidFill>
          <a:ln/>
        </p:spPr>
        <p:txBody>
          <a:bodyPr/>
          <a:lstStyle/>
          <a:p>
            <a:endParaRPr lang="en-AE"/>
          </a:p>
        </p:txBody>
      </p:sp>
      <p:sp>
        <p:nvSpPr>
          <p:cNvPr id="5" name="Shape 3"/>
          <p:cNvSpPr/>
          <p:nvPr/>
        </p:nvSpPr>
        <p:spPr>
          <a:xfrm>
            <a:off x="1143000" y="1417320"/>
            <a:ext cx="137160" cy="137160"/>
          </a:xfrm>
          <a:prstGeom prst="ellipse">
            <a:avLst/>
          </a:prstGeom>
          <a:solidFill>
            <a:srgbClr val="F59E0B"/>
          </a:solidFill>
          <a:ln/>
        </p:spPr>
        <p:txBody>
          <a:bodyPr/>
          <a:lstStyle/>
          <a:p>
            <a:endParaRPr lang="en-AE"/>
          </a:p>
        </p:txBody>
      </p:sp>
      <p:sp>
        <p:nvSpPr>
          <p:cNvPr id="6" name="Shape 4"/>
          <p:cNvSpPr/>
          <p:nvPr/>
        </p:nvSpPr>
        <p:spPr>
          <a:xfrm>
            <a:off x="1371600" y="1417320"/>
            <a:ext cx="137160" cy="137160"/>
          </a:xfrm>
          <a:prstGeom prst="ellipse">
            <a:avLst/>
          </a:prstGeom>
          <a:solidFill>
            <a:srgbClr val="10B981"/>
          </a:solidFill>
          <a:ln/>
        </p:spPr>
        <p:txBody>
          <a:bodyPr/>
          <a:lstStyle/>
          <a:p>
            <a:endParaRPr lang="en-AE"/>
          </a:p>
        </p:txBody>
      </p:sp>
      <p:sp>
        <p:nvSpPr>
          <p:cNvPr id="7" name="Text 5"/>
          <p:cNvSpPr/>
          <p:nvPr/>
        </p:nvSpPr>
        <p:spPr>
          <a:xfrm>
            <a:off x="914400" y="1691640"/>
            <a:ext cx="4572000" cy="1828800"/>
          </a:xfrm>
          <a:prstGeom prst="rect">
            <a:avLst/>
          </a:prstGeom>
          <a:noFill/>
          <a:ln/>
        </p:spPr>
        <p:txBody>
          <a:bodyPr wrap="square" lIns="0" tIns="0" rIns="0" bIns="0" rtlCol="0" anchor="t"/>
          <a:lstStyle/>
          <a:p>
            <a:pPr marL="0" indent="0">
              <a:buNone/>
            </a:pPr>
            <a:r>
              <a:rPr lang="en-US" sz="1400" b="1" dirty="0" err="1">
                <a:solidFill>
                  <a:srgbClr val="22D3EE"/>
                </a:solidFill>
                <a:latin typeface="Consolas" pitchFamily="34" charset="0"/>
                <a:ea typeface="Consolas" pitchFamily="34" charset="-122"/>
                <a:cs typeface="Consolas" pitchFamily="34" charset="-120"/>
              </a:rPr>
              <a:t>conda</a:t>
            </a:r>
            <a:r>
              <a:rPr lang="en-US" sz="1400" b="1" dirty="0">
                <a:solidFill>
                  <a:srgbClr val="22D3EE"/>
                </a:solidFill>
                <a:latin typeface="Consolas" pitchFamily="34" charset="0"/>
                <a:ea typeface="Consolas" pitchFamily="34" charset="-122"/>
                <a:cs typeface="Consolas" pitchFamily="34" charset="-120"/>
              </a:rPr>
              <a:t> create -n </a:t>
            </a:r>
            <a:r>
              <a:rPr lang="en-US" sz="1400" b="1" dirty="0" err="1">
                <a:solidFill>
                  <a:srgbClr val="22D3EE"/>
                </a:solidFill>
                <a:latin typeface="Consolas" pitchFamily="34" charset="0"/>
                <a:ea typeface="Consolas" pitchFamily="34" charset="-122"/>
                <a:cs typeface="Consolas" pitchFamily="34" charset="-120"/>
              </a:rPr>
              <a:t>myenv</a:t>
            </a:r>
            <a:endParaRPr lang="en-US" sz="1400" b="1" dirty="0">
              <a:solidFill>
                <a:srgbClr val="22D3EE"/>
              </a:solidFill>
              <a:latin typeface="Consolas" pitchFamily="34" charset="0"/>
              <a:ea typeface="Consolas" pitchFamily="34" charset="-122"/>
              <a:cs typeface="Consolas" pitchFamily="34" charset="-120"/>
            </a:endParaRPr>
          </a:p>
          <a:p>
            <a:pPr marL="0" indent="0">
              <a:buNone/>
            </a:pPr>
            <a:r>
              <a:rPr lang="en-US" sz="1400" b="1" dirty="0" err="1">
                <a:solidFill>
                  <a:srgbClr val="22D3EE"/>
                </a:solidFill>
                <a:latin typeface="Consolas" pitchFamily="34" charset="0"/>
                <a:ea typeface="Consolas" pitchFamily="34" charset="-122"/>
                <a:cs typeface="Consolas" pitchFamily="34" charset="-120"/>
              </a:rPr>
              <a:t>conda</a:t>
            </a:r>
            <a:r>
              <a:rPr lang="en-US" sz="1400" b="1" dirty="0">
                <a:solidFill>
                  <a:srgbClr val="22D3EE"/>
                </a:solidFill>
                <a:latin typeface="Consolas" pitchFamily="34" charset="0"/>
                <a:ea typeface="Consolas" pitchFamily="34" charset="-122"/>
                <a:cs typeface="Consolas" pitchFamily="34" charset="-120"/>
              </a:rPr>
              <a:t> activate </a:t>
            </a:r>
            <a:r>
              <a:rPr lang="en-US" sz="1400" b="1" dirty="0" err="1">
                <a:solidFill>
                  <a:srgbClr val="22D3EE"/>
                </a:solidFill>
                <a:latin typeface="Consolas" pitchFamily="34" charset="0"/>
                <a:ea typeface="Consolas" pitchFamily="34" charset="-122"/>
                <a:cs typeface="Consolas" pitchFamily="34" charset="-120"/>
              </a:rPr>
              <a:t>myenv</a:t>
            </a:r>
            <a:endParaRPr lang="en-US" sz="1400" b="1" dirty="0">
              <a:solidFill>
                <a:srgbClr val="22D3EE"/>
              </a:solidFill>
              <a:latin typeface="Consolas" pitchFamily="34" charset="0"/>
              <a:ea typeface="Consolas" pitchFamily="34" charset="-122"/>
              <a:cs typeface="Consolas" pitchFamily="34" charset="-120"/>
            </a:endParaRPr>
          </a:p>
          <a:p>
            <a:pPr marL="0" indent="0">
              <a:buNone/>
            </a:pPr>
            <a:endParaRPr lang="en-US" sz="1400" dirty="0">
              <a:solidFill>
                <a:srgbClr val="22D3EE"/>
              </a:solidFill>
              <a:latin typeface="Consolas" pitchFamily="34" charset="0"/>
              <a:ea typeface="Consolas" pitchFamily="34" charset="-122"/>
              <a:cs typeface="Consolas" pitchFamily="34" charset="-120"/>
            </a:endParaRPr>
          </a:p>
          <a:p>
            <a:pPr marL="0" indent="0">
              <a:buNone/>
            </a:pPr>
            <a:r>
              <a:rPr lang="en-US" sz="1400" dirty="0">
                <a:solidFill>
                  <a:srgbClr val="22D3EE"/>
                </a:solidFill>
                <a:latin typeface="Consolas" pitchFamily="34" charset="0"/>
                <a:ea typeface="Consolas" pitchFamily="34" charset="-122"/>
                <a:cs typeface="Consolas" pitchFamily="34" charset="-120"/>
              </a:rPr>
              <a:t>$ pip install numpy</a:t>
            </a:r>
            <a:endParaRPr lang="en-US" sz="1400" dirty="0"/>
          </a:p>
          <a:p>
            <a:pPr marL="0" indent="0">
              <a:buNone/>
            </a:pPr>
            <a:endParaRPr lang="en-US" sz="1400" dirty="0"/>
          </a:p>
          <a:p>
            <a:pPr marL="0" indent="0">
              <a:buNone/>
            </a:pPr>
            <a:r>
              <a:rPr lang="en-US" sz="1400" dirty="0">
                <a:solidFill>
                  <a:srgbClr val="22D3EE"/>
                </a:solidFill>
                <a:latin typeface="Consolas" pitchFamily="34" charset="0"/>
                <a:ea typeface="Consolas" pitchFamily="34" charset="-122"/>
                <a:cs typeface="Consolas" pitchFamily="34" charset="-120"/>
              </a:rPr>
              <a:t>$ pip install matplotlib</a:t>
            </a:r>
            <a:endParaRPr lang="en-US" sz="1400" dirty="0"/>
          </a:p>
          <a:p>
            <a:pPr marL="0" indent="0">
              <a:buNone/>
            </a:pPr>
            <a:endParaRPr lang="en-US" sz="1400" dirty="0"/>
          </a:p>
          <a:p>
            <a:pPr marL="0" indent="0">
              <a:buNone/>
            </a:pPr>
            <a:r>
              <a:rPr lang="en-US" sz="1400" dirty="0">
                <a:solidFill>
                  <a:srgbClr val="22D3EE"/>
                </a:solidFill>
                <a:latin typeface="Consolas" pitchFamily="34" charset="0"/>
                <a:ea typeface="Consolas" pitchFamily="34" charset="-122"/>
                <a:cs typeface="Consolas" pitchFamily="34" charset="-120"/>
              </a:rPr>
              <a:t>$ pip install opencv-python</a:t>
            </a:r>
            <a:endParaRPr lang="en-US" sz="1400" dirty="0"/>
          </a:p>
        </p:txBody>
      </p:sp>
      <p:sp>
        <p:nvSpPr>
          <p:cNvPr id="8" name="Shape 6"/>
          <p:cNvSpPr/>
          <p:nvPr/>
        </p:nvSpPr>
        <p:spPr>
          <a:xfrm>
            <a:off x="5943600" y="914400"/>
            <a:ext cx="274320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9" name="Text 7"/>
          <p:cNvSpPr/>
          <p:nvPr/>
        </p:nvSpPr>
        <p:spPr>
          <a:xfrm>
            <a:off x="6126480" y="960120"/>
            <a:ext cx="2377440" cy="274320"/>
          </a:xfrm>
          <a:prstGeom prst="rect">
            <a:avLst/>
          </a:prstGeom>
          <a:noFill/>
          <a:ln/>
        </p:spPr>
        <p:txBody>
          <a:bodyPr wrap="square" lIns="0" tIns="0" rIns="0" bIns="0" rtlCol="0" anchor="ctr"/>
          <a:lstStyle/>
          <a:p>
            <a:pPr marL="0" indent="0">
              <a:buNone/>
            </a:pPr>
            <a:r>
              <a:rPr lang="en-US" sz="1400" b="1" dirty="0">
                <a:solidFill>
                  <a:srgbClr val="0891B2"/>
                </a:solidFill>
                <a:latin typeface="Calibri" pitchFamily="34" charset="0"/>
                <a:ea typeface="Calibri" pitchFamily="34" charset="-122"/>
                <a:cs typeface="Calibri" pitchFamily="34" charset="-120"/>
              </a:rPr>
              <a:t>NumPy</a:t>
            </a:r>
            <a:endParaRPr lang="en-US" sz="1400" dirty="0"/>
          </a:p>
        </p:txBody>
      </p:sp>
      <p:sp>
        <p:nvSpPr>
          <p:cNvPr id="10" name="Text 8"/>
          <p:cNvSpPr/>
          <p:nvPr/>
        </p:nvSpPr>
        <p:spPr>
          <a:xfrm>
            <a:off x="6126480" y="1207008"/>
            <a:ext cx="23774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N-dimensional arrays — the backbone of image data</a:t>
            </a:r>
            <a:endParaRPr lang="en-US" sz="1000" dirty="0"/>
          </a:p>
        </p:txBody>
      </p:sp>
      <p:sp>
        <p:nvSpPr>
          <p:cNvPr id="11" name="Shape 9"/>
          <p:cNvSpPr/>
          <p:nvPr/>
        </p:nvSpPr>
        <p:spPr>
          <a:xfrm>
            <a:off x="5943600" y="1691640"/>
            <a:ext cx="274320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2" name="Text 10"/>
          <p:cNvSpPr/>
          <p:nvPr/>
        </p:nvSpPr>
        <p:spPr>
          <a:xfrm>
            <a:off x="6126480" y="1737360"/>
            <a:ext cx="2377440" cy="274320"/>
          </a:xfrm>
          <a:prstGeom prst="rect">
            <a:avLst/>
          </a:prstGeom>
          <a:noFill/>
          <a:ln/>
        </p:spPr>
        <p:txBody>
          <a:bodyPr wrap="square" lIns="0" tIns="0" rIns="0" bIns="0" rtlCol="0" anchor="ctr"/>
          <a:lstStyle/>
          <a:p>
            <a:pPr marL="0" indent="0">
              <a:buNone/>
            </a:pPr>
            <a:r>
              <a:rPr lang="en-US" sz="1400" b="1" dirty="0">
                <a:solidFill>
                  <a:srgbClr val="0891B2"/>
                </a:solidFill>
                <a:latin typeface="Calibri" pitchFamily="34" charset="0"/>
                <a:ea typeface="Calibri" pitchFamily="34" charset="-122"/>
                <a:cs typeface="Calibri" pitchFamily="34" charset="-120"/>
              </a:rPr>
              <a:t>Matplotlib</a:t>
            </a:r>
            <a:endParaRPr lang="en-US" sz="1400" dirty="0"/>
          </a:p>
        </p:txBody>
      </p:sp>
      <p:sp>
        <p:nvSpPr>
          <p:cNvPr id="13" name="Text 11"/>
          <p:cNvSpPr/>
          <p:nvPr/>
        </p:nvSpPr>
        <p:spPr>
          <a:xfrm>
            <a:off x="6126480" y="1984248"/>
            <a:ext cx="23774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Plotting and visualising results</a:t>
            </a:r>
            <a:endParaRPr lang="en-US" sz="1000" dirty="0"/>
          </a:p>
        </p:txBody>
      </p:sp>
      <p:sp>
        <p:nvSpPr>
          <p:cNvPr id="14" name="Shape 12"/>
          <p:cNvSpPr/>
          <p:nvPr/>
        </p:nvSpPr>
        <p:spPr>
          <a:xfrm>
            <a:off x="5943600" y="2468880"/>
            <a:ext cx="274320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15" name="Text 13"/>
          <p:cNvSpPr/>
          <p:nvPr/>
        </p:nvSpPr>
        <p:spPr>
          <a:xfrm>
            <a:off x="6126480" y="2514600"/>
            <a:ext cx="2377440" cy="274320"/>
          </a:xfrm>
          <a:prstGeom prst="rect">
            <a:avLst/>
          </a:prstGeom>
          <a:noFill/>
          <a:ln/>
        </p:spPr>
        <p:txBody>
          <a:bodyPr wrap="square" lIns="0" tIns="0" rIns="0" bIns="0" rtlCol="0" anchor="ctr"/>
          <a:lstStyle/>
          <a:p>
            <a:pPr marL="0" indent="0">
              <a:buNone/>
            </a:pPr>
            <a:r>
              <a:rPr lang="en-US" sz="1400" b="1" dirty="0">
                <a:solidFill>
                  <a:srgbClr val="0891B2"/>
                </a:solidFill>
                <a:latin typeface="Calibri" pitchFamily="34" charset="0"/>
                <a:ea typeface="Calibri" pitchFamily="34" charset="-122"/>
                <a:cs typeface="Calibri" pitchFamily="34" charset="-120"/>
              </a:rPr>
              <a:t>OpenCV</a:t>
            </a:r>
            <a:endParaRPr lang="en-US" sz="1400" dirty="0"/>
          </a:p>
        </p:txBody>
      </p:sp>
      <p:sp>
        <p:nvSpPr>
          <p:cNvPr id="16" name="Text 14"/>
          <p:cNvSpPr/>
          <p:nvPr/>
        </p:nvSpPr>
        <p:spPr>
          <a:xfrm>
            <a:off x="6126480" y="2761488"/>
            <a:ext cx="23774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go-to library for computer vision</a:t>
            </a:r>
            <a:endParaRPr lang="en-US" sz="1000" dirty="0"/>
          </a:p>
        </p:txBody>
      </p:sp>
      <p:sp>
        <p:nvSpPr>
          <p:cNvPr id="17" name="Text 15"/>
          <p:cNvSpPr/>
          <p:nvPr/>
        </p:nvSpPr>
        <p:spPr>
          <a:xfrm>
            <a:off x="640080" y="4023360"/>
            <a:ext cx="5486400" cy="320040"/>
          </a:xfrm>
          <a:prstGeom prst="rect">
            <a:avLst/>
          </a:prstGeom>
          <a:noFill/>
          <a:ln/>
        </p:spPr>
        <p:txBody>
          <a:bodyPr wrap="square" lIns="0" tIns="0" rIns="0" bIns="0" rtlCol="0" anchor="ctr"/>
          <a:lstStyle/>
          <a:p>
            <a:pPr marL="0" indent="0">
              <a:buNone/>
            </a:pPr>
            <a:r>
              <a:rPr lang="en-US" sz="1200" i="1" dirty="0">
                <a:solidFill>
                  <a:srgbClr val="0891B2"/>
                </a:solidFill>
                <a:latin typeface="Calibri" pitchFamily="34" charset="0"/>
                <a:ea typeface="Calibri" pitchFamily="34" charset="-122"/>
                <a:cs typeface="Calibri" pitchFamily="34" charset="-120"/>
              </a:rPr>
              <a:t>Resources: github.com/uqmars/workshop-resources/CV/2026</a:t>
            </a:r>
            <a:endParaRPr lang="en-US" sz="1200" dirty="0"/>
          </a:p>
        </p:txBody>
      </p:sp>
      <p:sp>
        <p:nvSpPr>
          <p:cNvPr id="18" name="Shape 16"/>
          <p:cNvSpPr/>
          <p:nvPr/>
        </p:nvSpPr>
        <p:spPr>
          <a:xfrm>
            <a:off x="0" y="4754880"/>
            <a:ext cx="9144000" cy="388620"/>
          </a:xfrm>
          <a:prstGeom prst="rect">
            <a:avLst/>
          </a:prstGeom>
          <a:solidFill>
            <a:srgbClr val="0F172A"/>
          </a:solidFill>
          <a:ln/>
        </p:spPr>
        <p:txBody>
          <a:bodyPr/>
          <a:lstStyle/>
          <a:p>
            <a:endParaRPr lang="en-AE"/>
          </a:p>
        </p:txBody>
      </p:sp>
      <p:sp>
        <p:nvSpPr>
          <p:cNvPr id="19" name="Text 17"/>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Section 0 — Setup</a:t>
            </a:r>
            <a:endParaRPr lang="en-US" sz="900" dirty="0"/>
          </a:p>
        </p:txBody>
      </p:sp>
      <p:sp>
        <p:nvSpPr>
          <p:cNvPr id="20" name="Text 18"/>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MARS 2026</a:t>
            </a:r>
            <a:endParaRPr lang="en-US" sz="900" dirty="0"/>
          </a:p>
        </p:txBody>
      </p:sp>
      <p:sp>
        <p:nvSpPr>
          <p:cNvPr id="25" name="Shape 6">
            <a:extLst>
              <a:ext uri="{FF2B5EF4-FFF2-40B4-BE49-F238E27FC236}">
                <a16:creationId xmlns:a16="http://schemas.microsoft.com/office/drawing/2014/main" id="{29DB4246-6A8D-1BD3-8E7E-731D113D0FEB}"/>
              </a:ext>
            </a:extLst>
          </p:cNvPr>
          <p:cNvSpPr/>
          <p:nvPr/>
        </p:nvSpPr>
        <p:spPr>
          <a:xfrm>
            <a:off x="5943600" y="3246120"/>
            <a:ext cx="2743200" cy="7315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26" name="Text 7">
            <a:extLst>
              <a:ext uri="{FF2B5EF4-FFF2-40B4-BE49-F238E27FC236}">
                <a16:creationId xmlns:a16="http://schemas.microsoft.com/office/drawing/2014/main" id="{BE704606-88C2-6877-D052-F75C8EE5B285}"/>
              </a:ext>
            </a:extLst>
          </p:cNvPr>
          <p:cNvSpPr/>
          <p:nvPr/>
        </p:nvSpPr>
        <p:spPr>
          <a:xfrm>
            <a:off x="6126480" y="3291840"/>
            <a:ext cx="2377440" cy="274320"/>
          </a:xfrm>
          <a:prstGeom prst="rect">
            <a:avLst/>
          </a:prstGeom>
          <a:noFill/>
          <a:ln/>
        </p:spPr>
        <p:txBody>
          <a:bodyPr wrap="square" lIns="0" tIns="0" rIns="0" bIns="0" rtlCol="0" anchor="ctr"/>
          <a:lstStyle/>
          <a:p>
            <a:pPr marL="0" indent="0">
              <a:buNone/>
            </a:pPr>
            <a:r>
              <a:rPr lang="en-US" sz="1400" b="1" dirty="0" err="1">
                <a:solidFill>
                  <a:srgbClr val="0891B2"/>
                </a:solidFill>
                <a:latin typeface="Calibri" pitchFamily="34" charset="0"/>
                <a:ea typeface="Calibri" pitchFamily="34" charset="-122"/>
                <a:cs typeface="Calibri" pitchFamily="34" charset="-120"/>
              </a:rPr>
              <a:t>Miniconda</a:t>
            </a:r>
            <a:endParaRPr lang="en-US" sz="1400" dirty="0"/>
          </a:p>
        </p:txBody>
      </p:sp>
      <p:sp>
        <p:nvSpPr>
          <p:cNvPr id="27" name="Text 8">
            <a:extLst>
              <a:ext uri="{FF2B5EF4-FFF2-40B4-BE49-F238E27FC236}">
                <a16:creationId xmlns:a16="http://schemas.microsoft.com/office/drawing/2014/main" id="{5A157F83-F72B-9948-2A36-B0BCC2BCFBDE}"/>
              </a:ext>
            </a:extLst>
          </p:cNvPr>
          <p:cNvSpPr/>
          <p:nvPr/>
        </p:nvSpPr>
        <p:spPr>
          <a:xfrm>
            <a:off x="6126480" y="3538728"/>
            <a:ext cx="2377440" cy="4114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Anaconda simplifies package management and deployment</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548640"/>
            <a:ext cx="1828800" cy="2286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01</a:t>
            </a:r>
            <a:endParaRPr kumimoji="0" lang="en-US" sz="9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19" y="2560320"/>
            <a:ext cx="6400801"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Images &amp; </a:t>
            </a:r>
            <a:r>
              <a:rPr kumimoji="0" lang="en-US" sz="4000" b="1" i="0" u="none" strike="noStrike" kern="1200" cap="none" spc="0" normalizeH="0" baseline="0" noProof="0" dirty="0" err="1">
                <a:ln>
                  <a:noFill/>
                </a:ln>
                <a:solidFill>
                  <a:srgbClr val="FFFFFF"/>
                </a:solidFill>
                <a:effectLst/>
                <a:uLnTx/>
                <a:uFillTx/>
                <a:latin typeface="Trebuchet MS" pitchFamily="34" charset="0"/>
                <a:ea typeface="Trebuchet MS" pitchFamily="34" charset="-122"/>
                <a:cs typeface="Trebuchet MS" pitchFamily="34" charset="-120"/>
              </a:rPr>
              <a:t>Colour</a:t>
            </a:r>
            <a:r>
              <a:rPr lang="en-US" sz="4000" dirty="0">
                <a:solidFill>
                  <a:prstClr val="black"/>
                </a:solidFill>
                <a:latin typeface="Calibri" panose="020F0502020204030204"/>
              </a:rPr>
              <a:t> </a:t>
            </a: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Channels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657600"/>
            <a:ext cx="6400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Reading images, BGR channels, and visualising components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132320" y="1371600"/>
            <a:ext cx="1463040" cy="1463040"/>
          </a:xfrm>
          <a:prstGeom prst="ellipse">
            <a:avLst/>
          </a:prstGeom>
          <a:solidFill>
            <a:srgbClr val="0891B2">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7452360" y="1691640"/>
            <a:ext cx="822960" cy="822960"/>
          </a:xfrm>
          <a:prstGeom prst="rect">
            <a:avLst/>
          </a:prstGeom>
        </p:spPr>
      </p:pic>
      <p:sp>
        <p:nvSpPr>
          <p:cNvPr id="7" name="Shape 4"/>
          <p:cNvSpPr/>
          <p:nvPr/>
        </p:nvSpPr>
        <p:spPr>
          <a:xfrm>
            <a:off x="731520" y="4663440"/>
            <a:ext cx="18288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What is a Digital Image?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097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An image is a 3D NumPy array with shape: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554480"/>
            <a:ext cx="4846320" cy="822960"/>
          </a:xfrm>
          <a:prstGeom prst="rect">
            <a:avLst/>
          </a:prstGeom>
          <a:solidFill>
            <a:srgbClr val="1E293B"/>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914400" y="1645920"/>
            <a:ext cx="4389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(height, width, channels)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onsolas" pitchFamily="34" charset="0"/>
                <a:ea typeface="Consolas" pitchFamily="34" charset="-122"/>
                <a:cs typeface="Consolas" pitchFamily="34" charset="-120"/>
              </a:rPr>
              <a:t>    rows     cols    BGR=3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606040"/>
            <a:ext cx="4846320" cy="3657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822960" y="2606040"/>
            <a:ext cx="1645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img.shape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2468880" y="2606040"/>
            <a:ext cx="2834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(height, width, channels)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3063240"/>
            <a:ext cx="4846320" cy="3657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822960" y="3063240"/>
            <a:ext cx="1645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img.dtype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468880" y="3063240"/>
            <a:ext cx="2834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uint8 — values 0 to 255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40080" y="3520440"/>
            <a:ext cx="4846320" cy="3657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822960" y="3520440"/>
            <a:ext cx="1645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img[y, x]</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468880" y="3520440"/>
            <a:ext cx="2834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Access pixel at row y, col x → [B, G, 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852160" y="1097280"/>
            <a:ext cx="2926080" cy="274320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0" descr="/home/claude/RGB.png"/>
          <p:cNvPicPr>
            <a:picLocks noChangeAspect="1"/>
          </p:cNvPicPr>
          <p:nvPr/>
        </p:nvPicPr>
        <p:blipFill>
          <a:blip r:embed="rId3"/>
          <a:stretch>
            <a:fillRect/>
          </a:stretch>
        </p:blipFill>
        <p:spPr>
          <a:xfrm>
            <a:off x="6400800" y="1234440"/>
            <a:ext cx="1737360" cy="1673352"/>
          </a:xfrm>
          <a:prstGeom prst="rect">
            <a:avLst/>
          </a:prstGeom>
        </p:spPr>
      </p:pic>
      <p:sp>
        <p:nvSpPr>
          <p:cNvPr id="17" name="Text 14"/>
          <p:cNvSpPr/>
          <p:nvPr/>
        </p:nvSpPr>
        <p:spPr>
          <a:xfrm>
            <a:off x="6035040" y="3017520"/>
            <a:ext cx="256032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OpenCV stores pixels in BGR order — Blue first, then Green, then Red.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1 — Images &amp; Colour Channels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BGR vs HSV Colour Spaces</a:t>
            </a:r>
            <a:endParaRPr lang="en-US" sz="3200" dirty="0"/>
          </a:p>
        </p:txBody>
      </p:sp>
      <p:sp>
        <p:nvSpPr>
          <p:cNvPr id="3" name="Shape 1"/>
          <p:cNvSpPr/>
          <p:nvPr/>
        </p:nvSpPr>
        <p:spPr>
          <a:xfrm>
            <a:off x="457200" y="118872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4" name="Shape 2"/>
          <p:cNvSpPr/>
          <p:nvPr/>
        </p:nvSpPr>
        <p:spPr>
          <a:xfrm>
            <a:off x="457200" y="1188720"/>
            <a:ext cx="3931920" cy="457200"/>
          </a:xfrm>
          <a:prstGeom prst="rect">
            <a:avLst/>
          </a:prstGeom>
          <a:solidFill>
            <a:srgbClr val="1E3A5F"/>
          </a:solidFill>
          <a:ln/>
        </p:spPr>
        <p:txBody>
          <a:bodyPr/>
          <a:lstStyle/>
          <a:p>
            <a:endParaRPr lang="en-AE"/>
          </a:p>
        </p:txBody>
      </p:sp>
      <p:sp>
        <p:nvSpPr>
          <p:cNvPr id="5" name="Text 3"/>
          <p:cNvSpPr/>
          <p:nvPr/>
        </p:nvSpPr>
        <p:spPr>
          <a:xfrm>
            <a:off x="640080" y="1207008"/>
            <a:ext cx="36576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BGR (Blue-Green-Red)</a:t>
            </a:r>
            <a:endParaRPr lang="en-US" sz="1600" dirty="0"/>
          </a:p>
        </p:txBody>
      </p:sp>
      <p:pic>
        <p:nvPicPr>
          <p:cNvPr id="6" name="Image 0" descr="/home/claude/RGB.png"/>
          <p:cNvPicPr>
            <a:picLocks noChangeAspect="1"/>
          </p:cNvPicPr>
          <p:nvPr/>
        </p:nvPicPr>
        <p:blipFill>
          <a:blip r:embed="rId3"/>
          <a:stretch>
            <a:fillRect/>
          </a:stretch>
        </p:blipFill>
        <p:spPr>
          <a:xfrm>
            <a:off x="1417320" y="1828800"/>
            <a:ext cx="1737360" cy="1673352"/>
          </a:xfrm>
          <a:prstGeom prst="rect">
            <a:avLst/>
          </a:prstGeom>
        </p:spPr>
      </p:pic>
      <p:sp>
        <p:nvSpPr>
          <p:cNvPr id="7" name="Text 4"/>
          <p:cNvSpPr/>
          <p:nvPr/>
        </p:nvSpPr>
        <p:spPr>
          <a:xfrm>
            <a:off x="640080" y="3611880"/>
            <a:ext cx="3474720" cy="68580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Default format in OpenCV</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Each channel: 0–255 intensity</a:t>
            </a:r>
            <a:endParaRPr lang="en-US" sz="1200" dirty="0"/>
          </a:p>
          <a:p>
            <a:pPr marL="342900" indent="-342900">
              <a:buSzPct val="100000"/>
              <a:buChar char="•"/>
            </a:pPr>
            <a:r>
              <a:rPr lang="en-US" sz="1200" b="1" dirty="0">
                <a:solidFill>
                  <a:srgbClr val="EF4444"/>
                </a:solidFill>
                <a:latin typeface="Calibri" pitchFamily="34" charset="0"/>
                <a:ea typeface="Calibri" pitchFamily="34" charset="-122"/>
                <a:cs typeface="Calibri" pitchFamily="34" charset="-120"/>
              </a:rPr>
              <a:t>Hard to isolate a specific colour</a:t>
            </a:r>
            <a:endParaRPr lang="en-US" sz="1200" dirty="0"/>
          </a:p>
        </p:txBody>
      </p:sp>
      <p:sp>
        <p:nvSpPr>
          <p:cNvPr id="8" name="Shape 5"/>
          <p:cNvSpPr/>
          <p:nvPr/>
        </p:nvSpPr>
        <p:spPr>
          <a:xfrm>
            <a:off x="4754880" y="118872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sp>
        <p:nvSpPr>
          <p:cNvPr id="9" name="Shape 6"/>
          <p:cNvSpPr/>
          <p:nvPr/>
        </p:nvSpPr>
        <p:spPr>
          <a:xfrm>
            <a:off x="4754880" y="1188720"/>
            <a:ext cx="3931920" cy="457200"/>
          </a:xfrm>
          <a:prstGeom prst="rect">
            <a:avLst/>
          </a:prstGeom>
          <a:solidFill>
            <a:srgbClr val="0891B2"/>
          </a:solidFill>
          <a:ln/>
        </p:spPr>
        <p:txBody>
          <a:bodyPr/>
          <a:lstStyle/>
          <a:p>
            <a:endParaRPr lang="en-AE"/>
          </a:p>
        </p:txBody>
      </p:sp>
      <p:sp>
        <p:nvSpPr>
          <p:cNvPr id="10" name="Text 7"/>
          <p:cNvSpPr/>
          <p:nvPr/>
        </p:nvSpPr>
        <p:spPr>
          <a:xfrm>
            <a:off x="4937760" y="1207008"/>
            <a:ext cx="36576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HSV (Hue-Sat-Value)</a:t>
            </a:r>
            <a:endParaRPr lang="en-US" sz="1600" dirty="0"/>
          </a:p>
        </p:txBody>
      </p:sp>
      <p:pic>
        <p:nvPicPr>
          <p:cNvPr id="11" name="Image 1" descr="/home/claude/hsvcone.png"/>
          <p:cNvPicPr>
            <a:picLocks noChangeAspect="1"/>
          </p:cNvPicPr>
          <p:nvPr/>
        </p:nvPicPr>
        <p:blipFill>
          <a:blip r:embed="rId4"/>
          <a:stretch>
            <a:fillRect/>
          </a:stretch>
        </p:blipFill>
        <p:spPr>
          <a:xfrm>
            <a:off x="5806440" y="1828800"/>
            <a:ext cx="1645920" cy="1453896"/>
          </a:xfrm>
          <a:prstGeom prst="rect">
            <a:avLst/>
          </a:prstGeom>
        </p:spPr>
      </p:pic>
      <p:sp>
        <p:nvSpPr>
          <p:cNvPr id="12" name="Text 8"/>
          <p:cNvSpPr/>
          <p:nvPr/>
        </p:nvSpPr>
        <p:spPr>
          <a:xfrm>
            <a:off x="4937760" y="3611880"/>
            <a:ext cx="3474720" cy="68580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Hue = colour (0–180 in OpenCV)</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Saturation = intensity of colour</a:t>
            </a:r>
            <a:endParaRPr lang="en-US" sz="1200" dirty="0"/>
          </a:p>
          <a:p>
            <a:pPr marL="342900" indent="-342900">
              <a:buSzPct val="100000"/>
              <a:buChar char="•"/>
            </a:pPr>
            <a:r>
              <a:rPr lang="en-US" sz="1200" b="1" dirty="0">
                <a:solidFill>
                  <a:srgbClr val="10B981"/>
                </a:solidFill>
                <a:latin typeface="Calibri" pitchFamily="34" charset="0"/>
                <a:ea typeface="Calibri" pitchFamily="34" charset="-122"/>
                <a:cs typeface="Calibri" pitchFamily="34" charset="-120"/>
              </a:rPr>
              <a:t>Great for colour-based filtering!</a:t>
            </a:r>
            <a:endParaRPr lang="en-US" sz="1200" dirty="0"/>
          </a:p>
        </p:txBody>
      </p:sp>
      <p:sp>
        <p:nvSpPr>
          <p:cNvPr id="13" name="Shape 9"/>
          <p:cNvSpPr/>
          <p:nvPr/>
        </p:nvSpPr>
        <p:spPr>
          <a:xfrm>
            <a:off x="0" y="4754880"/>
            <a:ext cx="9144000" cy="388620"/>
          </a:xfrm>
          <a:prstGeom prst="rect">
            <a:avLst/>
          </a:prstGeom>
          <a:solidFill>
            <a:srgbClr val="0F172A"/>
          </a:solidFill>
          <a:ln/>
        </p:spPr>
        <p:txBody>
          <a:bodyPr/>
          <a:lstStyle/>
          <a:p>
            <a:endParaRPr lang="en-AE"/>
          </a:p>
        </p:txBody>
      </p:sp>
      <p:sp>
        <p:nvSpPr>
          <p:cNvPr id="14" name="Text 10"/>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Section 2 — Colour Spaces &amp; Masking</a:t>
            </a:r>
            <a:endParaRPr lang="en-US" sz="900" dirty="0"/>
          </a:p>
        </p:txBody>
      </p:sp>
      <p:sp>
        <p:nvSpPr>
          <p:cNvPr id="15" name="Text 11"/>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MARS 2026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Splitting &amp; Visualising Channels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960120"/>
            <a:ext cx="7863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Each pixel has 3 values [B, G, R]. We can isolate each channel to see its contribution.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417320"/>
            <a:ext cx="4754880" cy="1828800"/>
          </a:xfrm>
          <a:prstGeom prst="rect">
            <a:avLst/>
          </a:prstGeom>
          <a:solidFill>
            <a:srgbClr val="1E293B"/>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554480"/>
            <a:ext cx="4389120"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onsolas" pitchFamily="34" charset="0"/>
                <a:ea typeface="Consolas" pitchFamily="34" charset="-122"/>
                <a:cs typeface="Consolas" pitchFamily="34" charset="-120"/>
              </a:rPr>
              <a:t># Isolate the BLUE channel only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img_b = img.copy()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img_b[:, :, 1] = 0  # zero out green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img_b[:, :, 2] = 0  # zero out red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onsolas" pitchFamily="34" charset="0"/>
                <a:ea typeface="Consolas" pitchFamily="34" charset="-122"/>
                <a:cs typeface="Consolas" pitchFamily="34" charset="-120"/>
              </a:rPr>
              <a:t># Single-channel grayscale of blue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img_b_gray = img[:, :, 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760720" y="1417320"/>
            <a:ext cx="301752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760720" y="1417320"/>
            <a:ext cx="73152" cy="59436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89320" y="1435608"/>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Blue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989320" y="1709928"/>
            <a:ext cx="25603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onsolas" pitchFamily="34" charset="0"/>
                <a:ea typeface="Consolas" pitchFamily="34" charset="-122"/>
                <a:cs typeface="Consolas" pitchFamily="34" charset="-120"/>
              </a:rPr>
              <a:t>[:, :, 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760720" y="2130552"/>
            <a:ext cx="301752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760720" y="2130552"/>
            <a:ext cx="73152" cy="594360"/>
          </a:xfrm>
          <a:prstGeom prst="rect">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989320" y="214884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Green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89320" y="2423160"/>
            <a:ext cx="25603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onsolas" pitchFamily="34" charset="0"/>
                <a:ea typeface="Consolas" pitchFamily="34" charset="-122"/>
                <a:cs typeface="Consolas" pitchFamily="34" charset="-120"/>
              </a:rPr>
              <a:t>[:, :, 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760720" y="2843784"/>
            <a:ext cx="301752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760720" y="2843784"/>
            <a:ext cx="73152" cy="594360"/>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5989320" y="2862072"/>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Red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5989320" y="3136392"/>
            <a:ext cx="25603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onsolas" pitchFamily="34" charset="0"/>
                <a:ea typeface="Consolas" pitchFamily="34" charset="-122"/>
                <a:cs typeface="Consolas" pitchFamily="34" charset="-120"/>
              </a:rPr>
              <a:t>[:, :, 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40080" y="3383280"/>
            <a:ext cx="4754880" cy="32004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22960" y="3383280"/>
            <a:ext cx="4389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img_stack = np.hstack([img, img_b, img_g, img_r])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40080" y="3886200"/>
            <a:ext cx="7863840" cy="502920"/>
          </a:xfrm>
          <a:prstGeom prst="rect">
            <a:avLst/>
          </a:prstGeom>
          <a:solidFill>
            <a:srgbClr val="F59E0B">
              <a:alpha val="15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822960" y="3931920"/>
            <a:ext cx="7498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Tip: </a:t>
            </a:r>
            <a:r>
              <a:rPr kumimoji="0" lang="en-US" sz="12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Use cv.setMouseCallback() to print the BGR value of any pixel when you click on it — great for debugging!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1 — Images &amp; Colour Channels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548640"/>
            <a:ext cx="1828800" cy="2286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02</a:t>
            </a:r>
            <a:endParaRPr kumimoji="0" lang="en-US" sz="9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56032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Image Operations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657600"/>
            <a:ext cx="6400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Grayscale, cropping, resizing, and pixel manipulation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132320" y="1371600"/>
            <a:ext cx="1463040" cy="1463040"/>
          </a:xfrm>
          <a:prstGeom prst="ellipse">
            <a:avLst/>
          </a:prstGeom>
          <a:solidFill>
            <a:srgbClr val="0891B2">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7452360" y="1691640"/>
            <a:ext cx="822960" cy="822960"/>
          </a:xfrm>
          <a:prstGeom prst="rect">
            <a:avLst/>
          </a:prstGeom>
        </p:spPr>
      </p:pic>
      <p:sp>
        <p:nvSpPr>
          <p:cNvPr id="7" name="Shape 4"/>
          <p:cNvSpPr/>
          <p:nvPr/>
        </p:nvSpPr>
        <p:spPr>
          <a:xfrm>
            <a:off x="731520" y="4663440"/>
            <a:ext cx="18288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Core Image Operations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640080" y="1097280"/>
            <a:ext cx="786384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22960" y="1115568"/>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Grayscale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286000" y="1170432"/>
            <a:ext cx="4297680" cy="292608"/>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2377440" y="1170432"/>
            <a:ext cx="4114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cv.cvtColor(img, cv.COLOR_BGR2GRAY)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720840" y="1115568"/>
            <a:ext cx="1691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Single channel — intensity only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1810512"/>
            <a:ext cx="786384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22960" y="182880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Crop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286000" y="1883664"/>
            <a:ext cx="4297680" cy="292608"/>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2377440" y="1883664"/>
            <a:ext cx="4114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img[y:y+h, x:x+w,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720840" y="1828800"/>
            <a:ext cx="1691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NumPy slice — no copy needed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2523744"/>
            <a:ext cx="786384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822960" y="2542032"/>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Resize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2286000" y="2596896"/>
            <a:ext cx="4297680" cy="292608"/>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2377440" y="2596896"/>
            <a:ext cx="4114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cv.resize(img, (128, 128))</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720840" y="2542032"/>
            <a:ext cx="1691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Scale to any dimension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40080" y="3236976"/>
            <a:ext cx="786384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22960" y="3255264"/>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Set pixels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2286000" y="3310128"/>
            <a:ext cx="4297680" cy="292608"/>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2377440" y="3310128"/>
            <a:ext cx="4114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img[y:y+h, x:x+w] = [128,128,128]</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720840" y="3255264"/>
            <a:ext cx="1691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Direct array assignment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40080" y="3950208"/>
            <a:ext cx="7863840" cy="59436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22960" y="3968496"/>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Condition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2286000" y="4023360"/>
            <a:ext cx="4297680" cy="292608"/>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2377440" y="4023360"/>
            <a:ext cx="4114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img[np.mean(img, axis=2)==255] = [0,0,255]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720840" y="3968496"/>
            <a:ext cx="1691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Boolean masking on pixels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2 — Image Operations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Reading Images with OpenCV</a:t>
            </a:r>
            <a:endParaRPr lang="en-US" sz="3200" dirty="0"/>
          </a:p>
        </p:txBody>
      </p:sp>
      <p:sp>
        <p:nvSpPr>
          <p:cNvPr id="3" name="Shape 1"/>
          <p:cNvSpPr/>
          <p:nvPr/>
        </p:nvSpPr>
        <p:spPr>
          <a:xfrm>
            <a:off x="640080" y="1188720"/>
            <a:ext cx="5029200" cy="2926080"/>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en-AE"/>
          </a:p>
        </p:txBody>
      </p:sp>
      <p:sp>
        <p:nvSpPr>
          <p:cNvPr id="4" name="Shape 2"/>
          <p:cNvSpPr/>
          <p:nvPr/>
        </p:nvSpPr>
        <p:spPr>
          <a:xfrm>
            <a:off x="914400" y="1325880"/>
            <a:ext cx="109728" cy="109728"/>
          </a:xfrm>
          <a:prstGeom prst="ellipse">
            <a:avLst/>
          </a:prstGeom>
          <a:solidFill>
            <a:srgbClr val="EF4444"/>
          </a:solidFill>
          <a:ln/>
        </p:spPr>
        <p:txBody>
          <a:bodyPr/>
          <a:lstStyle/>
          <a:p>
            <a:endParaRPr lang="en-AE"/>
          </a:p>
        </p:txBody>
      </p:sp>
      <p:sp>
        <p:nvSpPr>
          <p:cNvPr id="5" name="Shape 3"/>
          <p:cNvSpPr/>
          <p:nvPr/>
        </p:nvSpPr>
        <p:spPr>
          <a:xfrm>
            <a:off x="1097280" y="1325880"/>
            <a:ext cx="109728" cy="109728"/>
          </a:xfrm>
          <a:prstGeom prst="ellipse">
            <a:avLst/>
          </a:prstGeom>
          <a:solidFill>
            <a:srgbClr val="F59E0B"/>
          </a:solidFill>
          <a:ln/>
        </p:spPr>
        <p:txBody>
          <a:bodyPr/>
          <a:lstStyle/>
          <a:p>
            <a:endParaRPr lang="en-AE"/>
          </a:p>
        </p:txBody>
      </p:sp>
      <p:sp>
        <p:nvSpPr>
          <p:cNvPr id="6" name="Shape 4"/>
          <p:cNvSpPr/>
          <p:nvPr/>
        </p:nvSpPr>
        <p:spPr>
          <a:xfrm>
            <a:off x="1280160" y="1325880"/>
            <a:ext cx="109728" cy="109728"/>
          </a:xfrm>
          <a:prstGeom prst="ellipse">
            <a:avLst/>
          </a:prstGeom>
          <a:solidFill>
            <a:srgbClr val="10B981"/>
          </a:solidFill>
          <a:ln/>
        </p:spPr>
        <p:txBody>
          <a:bodyPr/>
          <a:lstStyle/>
          <a:p>
            <a:endParaRPr lang="en-AE"/>
          </a:p>
        </p:txBody>
      </p:sp>
      <p:sp>
        <p:nvSpPr>
          <p:cNvPr id="7" name="Text 5"/>
          <p:cNvSpPr/>
          <p:nvPr/>
        </p:nvSpPr>
        <p:spPr>
          <a:xfrm>
            <a:off x="1508760" y="1261872"/>
            <a:ext cx="2743200" cy="22860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1-imageData.py</a:t>
            </a:r>
            <a:endParaRPr lang="en-US" sz="1000" dirty="0"/>
          </a:p>
        </p:txBody>
      </p:sp>
      <p:sp>
        <p:nvSpPr>
          <p:cNvPr id="8" name="Text 6"/>
          <p:cNvSpPr/>
          <p:nvPr/>
        </p:nvSpPr>
        <p:spPr>
          <a:xfrm>
            <a:off x="914400" y="1600200"/>
            <a:ext cx="4572000" cy="2377440"/>
          </a:xfrm>
          <a:prstGeom prst="rect">
            <a:avLst/>
          </a:prstGeom>
          <a:noFill/>
          <a:ln/>
        </p:spPr>
        <p:txBody>
          <a:bodyPr wrap="square" lIns="0" tIns="0" rIns="0" bIns="0" rtlCol="0" anchor="t"/>
          <a:lstStyle/>
          <a:p>
            <a:pPr marL="0" indent="0">
              <a:buNone/>
            </a:pPr>
            <a:r>
              <a:rPr lang="en-US" sz="1200" dirty="0">
                <a:solidFill>
                  <a:srgbClr val="7DD3FC"/>
                </a:solidFill>
                <a:latin typeface="Consolas" pitchFamily="34" charset="0"/>
                <a:ea typeface="Consolas" pitchFamily="34" charset="-122"/>
                <a:cs typeface="Consolas" pitchFamily="34" charset="-120"/>
              </a:rPr>
              <a:t>import cv2</a:t>
            </a:r>
            <a:endParaRPr lang="en-US" sz="1200" dirty="0"/>
          </a:p>
          <a:p>
            <a:pPr marL="0" indent="0">
              <a:buNone/>
            </a:pP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img = cv2.imread(‘birb.png')</a:t>
            </a:r>
            <a:endParaRPr lang="en-US" sz="1200" dirty="0"/>
          </a:p>
          <a:p>
            <a:pPr marL="0" indent="0">
              <a:buNone/>
            </a:pP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print(img.shape)  </a:t>
            </a:r>
            <a:r>
              <a:rPr lang="en-US" sz="1200" dirty="0">
                <a:solidFill>
                  <a:srgbClr val="64748B"/>
                </a:solidFill>
                <a:latin typeface="Consolas" pitchFamily="34" charset="0"/>
                <a:ea typeface="Consolas" pitchFamily="34" charset="-122"/>
                <a:cs typeface="Consolas" pitchFamily="34" charset="-120"/>
              </a:rPr>
              <a:t># (H, W, C)</a:t>
            </a: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print(img.size)   </a:t>
            </a:r>
            <a:r>
              <a:rPr lang="en-US" sz="1200" dirty="0">
                <a:solidFill>
                  <a:srgbClr val="64748B"/>
                </a:solidFill>
                <a:latin typeface="Consolas" pitchFamily="34" charset="0"/>
                <a:ea typeface="Consolas" pitchFamily="34" charset="-122"/>
                <a:cs typeface="Consolas" pitchFamily="34" charset="-120"/>
              </a:rPr>
              <a:t># total pixels</a:t>
            </a: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print(img.dtype)  </a:t>
            </a:r>
            <a:r>
              <a:rPr lang="en-US" sz="1200" dirty="0">
                <a:solidFill>
                  <a:srgbClr val="64748B"/>
                </a:solidFill>
                <a:latin typeface="Consolas" pitchFamily="34" charset="0"/>
                <a:ea typeface="Consolas" pitchFamily="34" charset="-122"/>
                <a:cs typeface="Consolas" pitchFamily="34" charset="-120"/>
              </a:rPr>
              <a:t># uint8</a:t>
            </a:r>
            <a:endParaRPr lang="en-US" sz="1200" dirty="0"/>
          </a:p>
          <a:p>
            <a:pPr marL="0" indent="0">
              <a:buNone/>
            </a:pP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cv2.imshow('</a:t>
            </a:r>
            <a:r>
              <a:rPr lang="en-US" sz="1200" dirty="0" err="1">
                <a:solidFill>
                  <a:srgbClr val="E2E8F0"/>
                </a:solidFill>
                <a:latin typeface="Consolas" pitchFamily="34" charset="0"/>
                <a:ea typeface="Consolas" pitchFamily="34" charset="-122"/>
                <a:cs typeface="Consolas" pitchFamily="34" charset="-120"/>
              </a:rPr>
              <a:t>Image_Name</a:t>
            </a:r>
            <a:r>
              <a:rPr lang="en-US" sz="1200" dirty="0">
                <a:solidFill>
                  <a:srgbClr val="E2E8F0"/>
                </a:solidFill>
                <a:latin typeface="Consolas" pitchFamily="34" charset="0"/>
                <a:ea typeface="Consolas" pitchFamily="34" charset="-122"/>
                <a:cs typeface="Consolas" pitchFamily="34" charset="-120"/>
              </a:rPr>
              <a:t>', img)</a:t>
            </a: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cv2.waitKey(0)</a:t>
            </a:r>
            <a:endParaRPr lang="en-US" sz="1200" dirty="0"/>
          </a:p>
        </p:txBody>
      </p:sp>
      <p:sp>
        <p:nvSpPr>
          <p:cNvPr id="9" name="Shape 7"/>
          <p:cNvSpPr/>
          <p:nvPr/>
        </p:nvSpPr>
        <p:spPr>
          <a:xfrm>
            <a:off x="5943600" y="1188720"/>
            <a:ext cx="283464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AE"/>
          </a:p>
        </p:txBody>
      </p:sp>
      <p:pic>
        <p:nvPicPr>
          <p:cNvPr id="10" name="Image 0" descr="/home/claude/HSVopenCV.png"/>
          <p:cNvPicPr>
            <a:picLocks noChangeAspect="1"/>
          </p:cNvPicPr>
          <p:nvPr/>
        </p:nvPicPr>
        <p:blipFill>
          <a:blip r:embed="rId3"/>
          <a:stretch>
            <a:fillRect/>
          </a:stretch>
        </p:blipFill>
        <p:spPr>
          <a:xfrm>
            <a:off x="6080760" y="1325880"/>
            <a:ext cx="2560320" cy="1261872"/>
          </a:xfrm>
          <a:prstGeom prst="rect">
            <a:avLst/>
          </a:prstGeom>
        </p:spPr>
      </p:pic>
      <p:sp>
        <p:nvSpPr>
          <p:cNvPr id="11" name="Text 8"/>
          <p:cNvSpPr/>
          <p:nvPr/>
        </p:nvSpPr>
        <p:spPr>
          <a:xfrm>
            <a:off x="5943600" y="2651760"/>
            <a:ext cx="2834640" cy="228600"/>
          </a:xfrm>
          <a:prstGeom prst="rect">
            <a:avLst/>
          </a:prstGeom>
          <a:noFill/>
          <a:ln/>
        </p:spPr>
        <p:txBody>
          <a:bodyPr wrap="square" lIns="0" tIns="0" rIns="0" bIns="0" rtlCol="0" anchor="ctr"/>
          <a:lstStyle/>
          <a:p>
            <a:pPr marL="0" indent="0" algn="ctr">
              <a:buNone/>
            </a:pPr>
            <a:r>
              <a:rPr lang="en-US" sz="900" dirty="0">
                <a:solidFill>
                  <a:srgbClr val="64748B"/>
                </a:solidFill>
                <a:latin typeface="Consolas" pitchFamily="34" charset="0"/>
                <a:ea typeface="Consolas" pitchFamily="34" charset="-122"/>
                <a:cs typeface="Consolas" pitchFamily="34" charset="-120"/>
              </a:rPr>
              <a:t>HSVopenCV.png</a:t>
            </a:r>
            <a:endParaRPr lang="en-US" sz="900" dirty="0"/>
          </a:p>
        </p:txBody>
      </p:sp>
      <p:sp>
        <p:nvSpPr>
          <p:cNvPr id="12" name="Shape 9"/>
          <p:cNvSpPr/>
          <p:nvPr/>
        </p:nvSpPr>
        <p:spPr>
          <a:xfrm>
            <a:off x="5943600" y="3291840"/>
            <a:ext cx="2834640" cy="777240"/>
          </a:xfrm>
          <a:prstGeom prst="rect">
            <a:avLst/>
          </a:prstGeom>
          <a:solidFill>
            <a:srgbClr val="0891B2">
              <a:alpha val="10000"/>
            </a:srgbClr>
          </a:solidFill>
          <a:ln/>
        </p:spPr>
        <p:txBody>
          <a:bodyPr/>
          <a:lstStyle/>
          <a:p>
            <a:endParaRPr lang="en-AE"/>
          </a:p>
        </p:txBody>
      </p:sp>
      <p:sp>
        <p:nvSpPr>
          <p:cNvPr id="13" name="Text 10"/>
          <p:cNvSpPr/>
          <p:nvPr/>
        </p:nvSpPr>
        <p:spPr>
          <a:xfrm>
            <a:off x="6126480" y="3383280"/>
            <a:ext cx="2468880" cy="59436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Key: </a:t>
            </a:r>
            <a:r>
              <a:rPr lang="en-US" sz="1200" dirty="0">
                <a:solidFill>
                  <a:srgbClr val="0F172A"/>
                </a:solidFill>
                <a:latin typeface="Calibri" pitchFamily="34" charset="0"/>
                <a:ea typeface="Calibri" pitchFamily="34" charset="-122"/>
                <a:cs typeface="Calibri" pitchFamily="34" charset="-120"/>
              </a:rPr>
              <a:t>OpenCV reads images in BGR order, not RGB! This matters for colour operations.</a:t>
            </a:r>
            <a:endParaRPr lang="en-US" sz="1200" dirty="0"/>
          </a:p>
        </p:txBody>
      </p:sp>
      <p:sp>
        <p:nvSpPr>
          <p:cNvPr id="14" name="Shape 11"/>
          <p:cNvSpPr/>
          <p:nvPr/>
        </p:nvSpPr>
        <p:spPr>
          <a:xfrm>
            <a:off x="0" y="4754880"/>
            <a:ext cx="9144000" cy="388620"/>
          </a:xfrm>
          <a:prstGeom prst="rect">
            <a:avLst/>
          </a:prstGeom>
          <a:solidFill>
            <a:srgbClr val="0F172A"/>
          </a:solidFill>
          <a:ln/>
        </p:spPr>
        <p:txBody>
          <a:bodyPr/>
          <a:lstStyle/>
          <a:p>
            <a:endParaRPr lang="en-AE"/>
          </a:p>
        </p:txBody>
      </p:sp>
      <p:sp>
        <p:nvSpPr>
          <p:cNvPr id="15" name="Text 12"/>
          <p:cNvSpPr/>
          <p:nvPr/>
        </p:nvSpPr>
        <p:spPr>
          <a:xfrm>
            <a:off x="457200" y="4773168"/>
            <a:ext cx="45720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Section 1 — Image Data Structures</a:t>
            </a:r>
            <a:endParaRPr lang="en-US" sz="900" dirty="0"/>
          </a:p>
        </p:txBody>
      </p:sp>
      <p:sp>
        <p:nvSpPr>
          <p:cNvPr id="16" name="Text 13"/>
          <p:cNvSpPr/>
          <p:nvPr/>
        </p:nvSpPr>
        <p:spPr>
          <a:xfrm>
            <a:off x="6400800" y="4773168"/>
            <a:ext cx="2286000" cy="365760"/>
          </a:xfrm>
          <a:prstGeom prst="rect">
            <a:avLst/>
          </a:prstGeom>
          <a:noFill/>
          <a:ln/>
        </p:spPr>
        <p:txBody>
          <a:bodyPr wrap="square" lIns="0" tIns="0" rIns="0" bIns="0" rtlCol="0" anchor="ctr"/>
          <a:lstStyle/>
          <a:p>
            <a:pPr marL="0" indent="0" algn="r">
              <a:buNone/>
            </a:pPr>
            <a:r>
              <a:rPr lang="en-US" sz="900" dirty="0">
                <a:solidFill>
                  <a:srgbClr val="0891B2"/>
                </a:solidFill>
                <a:latin typeface="Calibri" pitchFamily="34" charset="0"/>
                <a:ea typeface="Calibri" pitchFamily="34" charset="-122"/>
                <a:cs typeface="Calibri" pitchFamily="34" charset="-120"/>
              </a:rPr>
              <a:t>UQ MARS 2026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548640"/>
            <a:ext cx="1828800" cy="2286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03</a:t>
            </a:r>
            <a:endParaRPr kumimoji="0" lang="en-US" sz="9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56032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Webcam &amp; Kernel</a:t>
            </a:r>
            <a:r>
              <a:rPr lang="en-US" sz="4000" dirty="0">
                <a:solidFill>
                  <a:prstClr val="black"/>
                </a:solidFill>
                <a:latin typeface="Calibri" panose="020F0502020204030204"/>
              </a:rPr>
              <a:t> </a:t>
            </a: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Filters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657600"/>
            <a:ext cx="6400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Live video, convolution, blur, sharpen, edge detection, sepia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132320" y="1371600"/>
            <a:ext cx="1463040" cy="1463040"/>
          </a:xfrm>
          <a:prstGeom prst="ellipse">
            <a:avLst/>
          </a:prstGeom>
          <a:solidFill>
            <a:srgbClr val="0891B2">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7452360" y="1691640"/>
            <a:ext cx="822960" cy="822960"/>
          </a:xfrm>
          <a:prstGeom prst="rect">
            <a:avLst/>
          </a:prstGeom>
        </p:spPr>
      </p:pic>
      <p:sp>
        <p:nvSpPr>
          <p:cNvPr id="7" name="Shape 4"/>
          <p:cNvSpPr/>
          <p:nvPr/>
        </p:nvSpPr>
        <p:spPr>
          <a:xfrm>
            <a:off x="731520" y="4663440"/>
            <a:ext cx="18288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What is Convolution?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005840"/>
            <a:ext cx="78638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 kernel (small matrix) slides across the image. At each position, it multiplies overlapping pixels and sums the result into a single output pixel.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600200"/>
            <a:ext cx="7863840" cy="41148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600200"/>
            <a:ext cx="7498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output = cv.filter2D(img, -1, kernel)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286000"/>
            <a:ext cx="1965960" cy="228600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48640" y="233172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Box Blur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94360" y="2651760"/>
            <a:ext cx="1691640" cy="100584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40080" y="2697480"/>
            <a:ext cx="160020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1 1 1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1 1 1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1 1 1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9</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48640" y="3749040"/>
            <a:ext cx="1783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Averages neighbours → smooth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606040" y="2286000"/>
            <a:ext cx="1965960" cy="228600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97480" y="233172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Gaussian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2743200" y="2651760"/>
            <a:ext cx="1691640" cy="100584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2788920" y="2697480"/>
            <a:ext cx="160020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1 2 1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2 4 2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1 2 1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16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697480" y="3749040"/>
            <a:ext cx="1783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Weighted average → less blocky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754880" y="2286000"/>
            <a:ext cx="1965960" cy="228600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846320" y="233172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Sharpen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892040" y="2651760"/>
            <a:ext cx="1691640" cy="100584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4937760" y="2697480"/>
            <a:ext cx="160020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0 -1  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-1  5 -1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0 -1  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846320" y="3749040"/>
            <a:ext cx="1783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Emphasises centre → crisp edges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6903720" y="2286000"/>
            <a:ext cx="1965960" cy="228600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995160" y="233172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Sobel X</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7040880" y="2651760"/>
            <a:ext cx="1691640" cy="100584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086600" y="2697480"/>
            <a:ext cx="160020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1  0 -1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2  0 -2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1  0 -1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6995160" y="3749040"/>
            <a:ext cx="1783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Detects vertical edges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3 — Webcam &amp; Kernels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Filter Gallery — Live Webcam Demo</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960120"/>
            <a:ext cx="7315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Press SPACE to cycle through filters on the live webcam feed.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6304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60120" y="160020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960120" y="160020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219456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Unfiltered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2148840" y="146304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2651760" y="160020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2651760" y="160020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194560" y="219456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Sharpen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3840480" y="146304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343400" y="160020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343400" y="160020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886200" y="219456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Unsharp Mask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532120" y="146304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035040" y="160020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6035040" y="160020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219456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Box Blur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7223760" y="146304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726680" y="160020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726680" y="160020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7269480" y="219456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Gaussian 3×3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57200" y="292608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960120" y="306324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960120" y="3063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02920" y="365760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Gaussian 5×5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2148840" y="292608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2651760" y="306324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2651760" y="3063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6</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2194560" y="365760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Sobel Edges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3840480" y="292608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4343400" y="306324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4343400" y="3063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3886200" y="365760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Sepia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5532120" y="292608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6035040" y="306324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6035040" y="3063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8</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5577840" y="365760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Grainy Sepia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7223760" y="2926080"/>
            <a:ext cx="1508760" cy="12344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7726680" y="306324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7726680" y="3063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9</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7269480" y="3657600"/>
            <a:ext cx="1417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HSV Threshold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3"/>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3 — Webcam &amp; Kernels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548640"/>
            <a:ext cx="1828800" cy="2286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04</a:t>
            </a:r>
            <a:endParaRPr kumimoji="0" lang="en-US" sz="9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56032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Camera Calibration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657600"/>
            <a:ext cx="6400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Chessboard detection, intrinsic parameters, and lens undistortion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132320" y="1371600"/>
            <a:ext cx="1463040" cy="1463040"/>
          </a:xfrm>
          <a:prstGeom prst="ellipse">
            <a:avLst/>
          </a:prstGeom>
          <a:solidFill>
            <a:srgbClr val="0891B2">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7452360" y="1691640"/>
            <a:ext cx="822960" cy="822960"/>
          </a:xfrm>
          <a:prstGeom prst="rect">
            <a:avLst/>
          </a:prstGeom>
        </p:spPr>
      </p:pic>
      <p:sp>
        <p:nvSpPr>
          <p:cNvPr id="7" name="Shape 4"/>
          <p:cNvSpPr/>
          <p:nvPr/>
        </p:nvSpPr>
        <p:spPr>
          <a:xfrm>
            <a:off x="731520" y="4663440"/>
            <a:ext cx="18288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Why Calibrate a Camera?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005840"/>
            <a:ext cx="78638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Real lenses distort images. Calibration computes the camera's intrinsic parameters so we can correct for this and measure the real world accurately.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691640"/>
            <a:ext cx="347472" cy="347472"/>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69164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143000" y="1645920"/>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Capture chessboard images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143000" y="1883664"/>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Show a 9×6 chessboard from multiple angles. Press SPACE to capture each frame.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813816" y="2057400"/>
            <a:ext cx="0" cy="164592"/>
          </a:xfrm>
          <a:prstGeom prst="line">
            <a:avLst/>
          </a:prstGeom>
          <a:noFill/>
          <a:ln w="19050">
            <a:solidFill>
              <a:srgbClr val="0891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2276856"/>
            <a:ext cx="347472" cy="347472"/>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276856"/>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143000" y="2231136"/>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Find corners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143000" y="2468880"/>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cv.findChessboardCorners() detects the grid intersections automatically.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813816" y="2642616"/>
            <a:ext cx="0" cy="164592"/>
          </a:xfrm>
          <a:prstGeom prst="line">
            <a:avLst/>
          </a:prstGeom>
          <a:noFill/>
          <a:ln w="19050">
            <a:solidFill>
              <a:srgbClr val="0891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640080" y="2862072"/>
            <a:ext cx="347472" cy="347472"/>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2862072"/>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143000" y="2816352"/>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Refine sub-pixel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143000" y="3054096"/>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cv.cornerSubPix() refines corner positions for higher accuracy.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13816" y="3227832"/>
            <a:ext cx="0" cy="164592"/>
          </a:xfrm>
          <a:prstGeom prst="line">
            <a:avLst/>
          </a:prstGeom>
          <a:noFill/>
          <a:ln w="19050">
            <a:solidFill>
              <a:srgbClr val="0891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40080" y="3447288"/>
            <a:ext cx="347472" cy="347472"/>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40080" y="3447288"/>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143000" y="3401568"/>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Calibrate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143000" y="3639312"/>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cv.calibrateCamera() computes the camera matrix (mtx) and distortion coefficients (dist).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813816" y="3813048"/>
            <a:ext cx="0" cy="164592"/>
          </a:xfrm>
          <a:prstGeom prst="line">
            <a:avLst/>
          </a:prstGeom>
          <a:noFill/>
          <a:ln w="19050">
            <a:solidFill>
              <a:srgbClr val="0891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40080" y="4032504"/>
            <a:ext cx="347472" cy="347472"/>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40080" y="40325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1143000" y="3986784"/>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Undistort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143000" y="4224528"/>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cv.undistort() applies the calibration to straighten out lens distortion.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4 — Camera Calibration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descr="A Comparison of Geometric Camera Calibration Methods | Image Engineering">
            <a:extLst>
              <a:ext uri="{FF2B5EF4-FFF2-40B4-BE49-F238E27FC236}">
                <a16:creationId xmlns:a16="http://schemas.microsoft.com/office/drawing/2014/main" id="{C9CA07E3-0201-751B-A8B4-7ED4F19C31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145"/>
          <a:stretch>
            <a:fillRect/>
          </a:stretch>
        </p:blipFill>
        <p:spPr bwMode="auto">
          <a:xfrm>
            <a:off x="6247863" y="1504188"/>
            <a:ext cx="2727321" cy="29318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The Camera Matrix</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960120"/>
            <a:ext cx="7863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Calibration produces two key outputs that describe your camera's optics: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17320"/>
            <a:ext cx="3931920" cy="292608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417320"/>
            <a:ext cx="3931920" cy="411480"/>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435608"/>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Camera Matrix (mtx)</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011680"/>
            <a:ext cx="3566160" cy="91440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22960" y="2057400"/>
            <a:ext cx="320040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fx   0   cx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0  fy   cy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0   0    1 ]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40080" y="3063240"/>
            <a:ext cx="3566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fx, fy</a:t>
            </a: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 = focal lengths (pixels)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cx, cy</a:t>
            </a: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 = optical centre (principal point)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754880" y="1417320"/>
            <a:ext cx="3931920" cy="292608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417320"/>
            <a:ext cx="3931920" cy="411480"/>
          </a:xfrm>
          <a:prstGeom prst="rect">
            <a:avLst/>
          </a:prstGeom>
          <a:solidFill>
            <a:srgbClr val="1E3A5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435608"/>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Distortion Coefficients (dist)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937760" y="2011680"/>
            <a:ext cx="3566160" cy="54864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5120640" y="2011680"/>
            <a:ext cx="32004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k1, k2, p1, p2, k3 ]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937760" y="2697480"/>
            <a:ext cx="356616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k1, k2, k3</a:t>
            </a: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 = radial distortion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p1, p2</a:t>
            </a: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 = tangential distortion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These describe how straight lines in the real world become curved in the image.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4 — Camera Calibration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548640"/>
            <a:ext cx="1828800" cy="2286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05</a:t>
            </a:r>
            <a:endParaRPr kumimoji="0" lang="en-US" sz="9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560320"/>
            <a:ext cx="6400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ArUco Markers &amp;</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Pose Estimation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657600"/>
            <a:ext cx="6400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Detecting markers, estimating 3D pose, measuring real-world distance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132320" y="1371600"/>
            <a:ext cx="1463040" cy="1463040"/>
          </a:xfrm>
          <a:prstGeom prst="ellipse">
            <a:avLst/>
          </a:prstGeom>
          <a:solidFill>
            <a:srgbClr val="0891B2">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7452360" y="1691640"/>
            <a:ext cx="822960" cy="822960"/>
          </a:xfrm>
          <a:prstGeom prst="rect">
            <a:avLst/>
          </a:prstGeom>
        </p:spPr>
      </p:pic>
      <p:sp>
        <p:nvSpPr>
          <p:cNvPr id="7" name="Shape 4"/>
          <p:cNvSpPr/>
          <p:nvPr/>
        </p:nvSpPr>
        <p:spPr>
          <a:xfrm>
            <a:off x="731520" y="4663440"/>
            <a:ext cx="18288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What are ArUco Markers?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640080" y="1097280"/>
            <a:ext cx="7863840" cy="10058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097280"/>
            <a:ext cx="73152" cy="1005840"/>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960120" y="1188720"/>
            <a:ext cx="7315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ArUco markers are black-and-white square fiducial markers. Each has a unique binary pattern and ID. OpenCV can detect them instantly and compute their 3D pose relative to the camera.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377440"/>
            <a:ext cx="1965960" cy="201168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188720" y="246888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188720" y="24688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48640" y="306324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Load dictionary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48640" y="3383280"/>
            <a:ext cx="1783080" cy="5943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3401568"/>
            <a:ext cx="16002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aruco.Dictionary_get(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DICT_4X4_100)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Image 0" descr="preencoded.png"/>
          <p:cNvPicPr>
            <a:picLocks noChangeAspect="1"/>
          </p:cNvPicPr>
          <p:nvPr/>
        </p:nvPicPr>
        <p:blipFill>
          <a:blip r:embed="rId3"/>
          <a:stretch>
            <a:fillRect/>
          </a:stretch>
        </p:blipFill>
        <p:spPr>
          <a:xfrm>
            <a:off x="2441448" y="2606040"/>
            <a:ext cx="164592" cy="164592"/>
          </a:xfrm>
          <a:prstGeom prst="rect">
            <a:avLst/>
          </a:prstGeom>
        </p:spPr>
      </p:pic>
      <p:sp>
        <p:nvSpPr>
          <p:cNvPr id="13" name="Shape 10"/>
          <p:cNvSpPr/>
          <p:nvPr/>
        </p:nvSpPr>
        <p:spPr>
          <a:xfrm>
            <a:off x="2606040" y="2377440"/>
            <a:ext cx="1965960" cy="201168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337560" y="246888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3337560" y="24688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2697480" y="306324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Detect markers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2697480" y="3383280"/>
            <a:ext cx="1783080" cy="5943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2788920" y="3401568"/>
            <a:ext cx="16002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aruco.detectMarkers(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img, aruco_dict)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 1" descr="preencoded.png"/>
          <p:cNvPicPr>
            <a:picLocks noChangeAspect="1"/>
          </p:cNvPicPr>
          <p:nvPr/>
        </p:nvPicPr>
        <p:blipFill>
          <a:blip r:embed="rId3"/>
          <a:stretch>
            <a:fillRect/>
          </a:stretch>
        </p:blipFill>
        <p:spPr>
          <a:xfrm>
            <a:off x="4590288" y="2606040"/>
            <a:ext cx="164592" cy="164592"/>
          </a:xfrm>
          <a:prstGeom prst="rect">
            <a:avLst/>
          </a:prstGeom>
        </p:spPr>
      </p:pic>
      <p:sp>
        <p:nvSpPr>
          <p:cNvPr id="20" name="Shape 16"/>
          <p:cNvSpPr/>
          <p:nvPr/>
        </p:nvSpPr>
        <p:spPr>
          <a:xfrm>
            <a:off x="4754880" y="2377440"/>
            <a:ext cx="1965960" cy="201168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7"/>
          <p:cNvSpPr/>
          <p:nvPr/>
        </p:nvSpPr>
        <p:spPr>
          <a:xfrm>
            <a:off x="5486400" y="246888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8"/>
          <p:cNvSpPr/>
          <p:nvPr/>
        </p:nvSpPr>
        <p:spPr>
          <a:xfrm>
            <a:off x="5486400" y="24688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4846320" y="306324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Estimate pose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0"/>
          <p:cNvSpPr/>
          <p:nvPr/>
        </p:nvSpPr>
        <p:spPr>
          <a:xfrm>
            <a:off x="4846320" y="3383280"/>
            <a:ext cx="1783080" cy="5943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1"/>
          <p:cNvSpPr/>
          <p:nvPr/>
        </p:nvSpPr>
        <p:spPr>
          <a:xfrm>
            <a:off x="4937760" y="3401568"/>
            <a:ext cx="16002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aruco.estimatePose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SingleMarkers(...)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2" descr="preencoded.png"/>
          <p:cNvPicPr>
            <a:picLocks noChangeAspect="1"/>
          </p:cNvPicPr>
          <p:nvPr/>
        </p:nvPicPr>
        <p:blipFill>
          <a:blip r:embed="rId3"/>
          <a:stretch>
            <a:fillRect/>
          </a:stretch>
        </p:blipFill>
        <p:spPr>
          <a:xfrm>
            <a:off x="6739128" y="2606040"/>
            <a:ext cx="164592" cy="164592"/>
          </a:xfrm>
          <a:prstGeom prst="rect">
            <a:avLst/>
          </a:prstGeom>
        </p:spPr>
      </p:pic>
      <p:sp>
        <p:nvSpPr>
          <p:cNvPr id="27" name="Shape 22"/>
          <p:cNvSpPr/>
          <p:nvPr/>
        </p:nvSpPr>
        <p:spPr>
          <a:xfrm>
            <a:off x="6903720" y="2377440"/>
            <a:ext cx="1965960" cy="201168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3"/>
          <p:cNvSpPr/>
          <p:nvPr/>
        </p:nvSpPr>
        <p:spPr>
          <a:xfrm>
            <a:off x="7635240" y="2468880"/>
            <a:ext cx="502920" cy="50292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4"/>
          <p:cNvSpPr/>
          <p:nvPr/>
        </p:nvSpPr>
        <p:spPr>
          <a:xfrm>
            <a:off x="7635240" y="24688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5"/>
          <p:cNvSpPr/>
          <p:nvPr/>
        </p:nvSpPr>
        <p:spPr>
          <a:xfrm>
            <a:off x="6995160" y="3063240"/>
            <a:ext cx="1783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Measure distance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6"/>
          <p:cNvSpPr/>
          <p:nvPr/>
        </p:nvSpPr>
        <p:spPr>
          <a:xfrm>
            <a:off x="6995160" y="3383280"/>
            <a:ext cx="1783080" cy="5943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7"/>
          <p:cNvSpPr/>
          <p:nvPr/>
        </p:nvSpPr>
        <p:spPr>
          <a:xfrm>
            <a:off x="7086600" y="3401568"/>
            <a:ext cx="16002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np.linalg.norm(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tvec1 - tvec2)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8"/>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9"/>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5 — ArUco Markers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0"/>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a:extLst>
            <a:ext uri="{FF2B5EF4-FFF2-40B4-BE49-F238E27FC236}">
              <a16:creationId xmlns:a16="http://schemas.microsoft.com/office/drawing/2014/main" id="{E6614C42-58BF-9C53-F5AA-83E6D85ED3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53301F-AF8E-D47E-8137-6CDE18BDE85E}"/>
              </a:ext>
            </a:extLst>
          </p:cNvPr>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Applications of </a:t>
            </a:r>
            <a:r>
              <a:rPr kumimoji="0" lang="en-US" sz="3200" b="1" i="0" u="none" strike="noStrike" kern="1200" cap="none" spc="0" normalizeH="0" baseline="0" noProof="0" dirty="0" err="1">
                <a:ln>
                  <a:noFill/>
                </a:ln>
                <a:solidFill>
                  <a:srgbClr val="0F172A"/>
                </a:solidFill>
                <a:effectLst/>
                <a:uLnTx/>
                <a:uFillTx/>
                <a:latin typeface="Trebuchet MS" pitchFamily="34" charset="0"/>
                <a:ea typeface="Trebuchet MS" pitchFamily="34" charset="-122"/>
                <a:cs typeface="Trebuchet MS" pitchFamily="34" charset="-120"/>
              </a:rPr>
              <a:t>ArUco</a:t>
            </a: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 Markers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8">
            <a:extLst>
              <a:ext uri="{FF2B5EF4-FFF2-40B4-BE49-F238E27FC236}">
                <a16:creationId xmlns:a16="http://schemas.microsoft.com/office/drawing/2014/main" id="{63CBDC40-CA91-C0C5-C51A-28F4A3D482C7}"/>
              </a:ext>
            </a:extLst>
          </p:cNvPr>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9">
            <a:extLst>
              <a:ext uri="{FF2B5EF4-FFF2-40B4-BE49-F238E27FC236}">
                <a16:creationId xmlns:a16="http://schemas.microsoft.com/office/drawing/2014/main" id="{BDD79B14-3815-3EA2-0356-84A87F79D923}"/>
              </a:ext>
            </a:extLst>
          </p:cNvPr>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5 — ArUco Markers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0">
            <a:extLst>
              <a:ext uri="{FF2B5EF4-FFF2-40B4-BE49-F238E27FC236}">
                <a16:creationId xmlns:a16="http://schemas.microsoft.com/office/drawing/2014/main" id="{7A95659B-EC7B-B720-0FEA-A707246CFB99}"/>
              </a:ext>
            </a:extLst>
          </p:cNvPr>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Online Media 35" title="Autonomous esp32 robot on a budget 😅">
            <a:hlinkClick r:id="" action="ppaction://media"/>
            <a:extLst>
              <a:ext uri="{FF2B5EF4-FFF2-40B4-BE49-F238E27FC236}">
                <a16:creationId xmlns:a16="http://schemas.microsoft.com/office/drawing/2014/main" id="{E3B811BF-0040-C65B-61BE-4F9EF8A759EB}"/>
              </a:ext>
            </a:extLst>
          </p:cNvPr>
          <p:cNvPicPr>
            <a:picLocks noRot="1" noChangeAspect="1"/>
          </p:cNvPicPr>
          <p:nvPr>
            <a:videoFile r:link="rId1"/>
          </p:nvPr>
        </p:nvPicPr>
        <p:blipFill>
          <a:blip r:embed="rId5"/>
          <a:stretch>
            <a:fillRect/>
          </a:stretch>
        </p:blipFill>
        <p:spPr>
          <a:xfrm>
            <a:off x="6845993" y="960218"/>
            <a:ext cx="1982236" cy="3511453"/>
          </a:xfrm>
          <a:prstGeom prst="rect">
            <a:avLst/>
          </a:prstGeom>
        </p:spPr>
      </p:pic>
      <p:pic>
        <p:nvPicPr>
          <p:cNvPr id="37" name="Online Media 36" title="Robot Localization using ArUco">
            <a:hlinkClick r:id="" action="ppaction://media"/>
            <a:extLst>
              <a:ext uri="{FF2B5EF4-FFF2-40B4-BE49-F238E27FC236}">
                <a16:creationId xmlns:a16="http://schemas.microsoft.com/office/drawing/2014/main" id="{38FC55FE-561B-4952-B93B-3DC14990C4B3}"/>
              </a:ext>
            </a:extLst>
          </p:cNvPr>
          <p:cNvPicPr>
            <a:picLocks noRot="1" noChangeAspect="1"/>
          </p:cNvPicPr>
          <p:nvPr>
            <a:videoFile r:link="rId2"/>
          </p:nvPr>
        </p:nvPicPr>
        <p:blipFill>
          <a:blip r:embed="rId6"/>
          <a:stretch>
            <a:fillRect/>
          </a:stretch>
        </p:blipFill>
        <p:spPr>
          <a:xfrm>
            <a:off x="282889" y="1005840"/>
            <a:ext cx="6139013" cy="3465831"/>
          </a:xfrm>
          <a:prstGeom prst="rect">
            <a:avLst/>
          </a:prstGeom>
        </p:spPr>
      </p:pic>
    </p:spTree>
    <p:extLst>
      <p:ext uri="{BB962C8B-B14F-4D97-AF65-F5344CB8AC3E}">
        <p14:creationId xmlns:p14="http://schemas.microsoft.com/office/powerpoint/2010/main" val="25923617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36"/>
                </p:tgtEl>
              </p:cMediaNode>
            </p:video>
            <p:seq concurrent="1" nextAc="seek">
              <p:cTn id="12" restart="whenNotActive" fill="hold" evtFilter="cancelBubble" nodeType="interactiveSeq">
                <p:stCondLst>
                  <p:cond evt="onClick" delay="0">
                    <p:tgtEl>
                      <p:spTgt spid="3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6"/>
                                        </p:tgtEl>
                                      </p:cBhvr>
                                    </p:cmd>
                                  </p:childTnLst>
                                </p:cTn>
                              </p:par>
                            </p:childTnLst>
                          </p:cTn>
                        </p:par>
                      </p:childTnLst>
                    </p:cTn>
                  </p:par>
                </p:childTnLst>
              </p:cTn>
              <p:nextCondLst>
                <p:cond evt="onClick" delay="0">
                  <p:tgtEl>
                    <p:spTgt spid="36"/>
                  </p:tgtEl>
                </p:cond>
              </p:nextCondLst>
            </p:seq>
            <p:video>
              <p:cMediaNode vol="80000">
                <p:cTn id="17" fill="hold" display="0">
                  <p:stCondLst>
                    <p:cond delay="indefinite"/>
                  </p:stCondLst>
                </p:cTn>
                <p:tgtEl>
                  <p:spTgt spid="37"/>
                </p:tgtEl>
              </p:cMediaNode>
            </p:video>
            <p:seq concurrent="1" nextAc="seek">
              <p:cTn id="18" restart="whenNotActive" fill="hold" evtFilter="cancelBubble" nodeType="interactiveSeq">
                <p:stCondLst>
                  <p:cond evt="onClick" delay="0">
                    <p:tgtEl>
                      <p:spTgt spid="3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37"/>
                                        </p:tgtEl>
                                      </p:cBhvr>
                                    </p:cmd>
                                  </p:childTnLst>
                                </p:cTn>
                              </p:par>
                            </p:childTnLst>
                          </p:cTn>
                        </p:par>
                      </p:childTnLst>
                    </p:cTn>
                  </p:par>
                </p:childTnLst>
              </p:cTn>
              <p:nextCondLst>
                <p:cond evt="onClick" delay="0">
                  <p:tgtEl>
                    <p:spTgt spid="37"/>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3D Pose &amp; Distance Measurement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97280"/>
            <a:ext cx="3931920" cy="32918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97280"/>
            <a:ext cx="3931920" cy="411480"/>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115568"/>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Pose Estimation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645920"/>
            <a:ext cx="3474720" cy="2560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srgbClr val="0891B2"/>
                </a:solidFill>
                <a:effectLst/>
                <a:uLnTx/>
                <a:uFillTx/>
                <a:latin typeface="Consolas" pitchFamily="34" charset="0"/>
                <a:ea typeface="Consolas" pitchFamily="34" charset="-122"/>
                <a:cs typeface="Consolas" pitchFamily="34" charset="-120"/>
              </a:rPr>
              <a:t>estimatePoseSingleMarkers</a:t>
            </a:r>
            <a:r>
              <a:rPr kumimoji="0" lang="en-US" sz="11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Returns for each marker: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rvec — rotation vector (3D orientation)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tvec — translation vector (3D position in </a:t>
            </a:r>
            <a:r>
              <a:rPr kumimoji="0" lang="en-US" sz="1100" b="0" i="0" u="none" strike="noStrike" kern="1200" cap="none" spc="0" normalizeH="0" baseline="0" noProof="0" dirty="0" err="1">
                <a:ln>
                  <a:noFill/>
                </a:ln>
                <a:solidFill>
                  <a:srgbClr val="0F172A"/>
                </a:solidFill>
                <a:effectLst/>
                <a:uLnTx/>
                <a:uFillTx/>
                <a:latin typeface="Calibri" pitchFamily="34" charset="0"/>
                <a:ea typeface="Calibri" pitchFamily="34" charset="-122"/>
                <a:cs typeface="Calibri" pitchFamily="34" charset="-120"/>
              </a:rPr>
              <a:t>metres</a:t>
            </a:r>
            <a:r>
              <a:rPr kumimoji="0" lang="en-US" sz="11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Requires: camera_matrix + dist_coeffs from calibration, and the real marker size (e.g. 28mm).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754880" y="1097280"/>
            <a:ext cx="3931920" cy="32918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754880" y="1097280"/>
            <a:ext cx="3931920" cy="411480"/>
          </a:xfrm>
          <a:prstGeom prst="rect">
            <a:avLst/>
          </a:prstGeom>
          <a:solidFill>
            <a:srgbClr val="1E3A5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937760" y="1115568"/>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Distance Between Markers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937760" y="1691640"/>
            <a:ext cx="3566160" cy="1645920"/>
          </a:xfrm>
          <a:prstGeom prst="rect">
            <a:avLst/>
          </a:prstGeom>
          <a:solidFill>
            <a:srgbClr val="1E293B"/>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120640" y="1828800"/>
            <a:ext cx="320040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if len(ids) ==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p1 = tvecs[0][0][0]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p2 = tvecs[1][0][0]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dist = np.linalg.norm(p1 - p2)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cv.putText(img,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onsolas" pitchFamily="34" charset="0"/>
                <a:ea typeface="Consolas" pitchFamily="34" charset="-122"/>
                <a:cs typeface="Consolas" pitchFamily="34" charset="-120"/>
              </a:rPr>
              <a:t>      f'{dist:.3f}m',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3474720"/>
            <a:ext cx="35661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Because tvecs are in real-world metres, the Euclidean distance between two markers gives a physical measurement directly from the camera feed.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0" descr="/home/claude/triangulation.png"/>
          <p:cNvPicPr>
            <a:picLocks noChangeAspect="1"/>
          </p:cNvPicPr>
          <p:nvPr/>
        </p:nvPicPr>
        <p:blipFill>
          <a:blip r:embed="rId3"/>
          <a:stretch>
            <a:fillRect/>
          </a:stretch>
        </p:blipFill>
        <p:spPr>
          <a:xfrm>
            <a:off x="618978" y="2849880"/>
            <a:ext cx="3608364" cy="1493520"/>
          </a:xfrm>
          <a:prstGeom prst="rect">
            <a:avLst/>
          </a:prstGeom>
        </p:spPr>
      </p:pic>
      <p:sp>
        <p:nvSpPr>
          <p:cNvPr id="14" name="Shape 11"/>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5 — ArUco Markers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548640"/>
            <a:ext cx="1828800" cy="2286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06</a:t>
            </a:r>
            <a:endParaRPr kumimoji="0" lang="en-US" sz="9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560320"/>
            <a:ext cx="6400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Object Recognition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Using CNNs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474720"/>
            <a:ext cx="6400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From hand-crafted rules to learned features — deep learning meets vision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132320" y="1371600"/>
            <a:ext cx="1463040" cy="1463040"/>
          </a:xfrm>
          <a:prstGeom prst="ellipse">
            <a:avLst/>
          </a:prstGeom>
          <a:solidFill>
            <a:srgbClr val="0891B2">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7452360" y="1691640"/>
            <a:ext cx="822960" cy="822960"/>
          </a:xfrm>
          <a:prstGeom prst="rect">
            <a:avLst/>
          </a:prstGeom>
        </p:spPr>
      </p:pic>
      <p:sp>
        <p:nvSpPr>
          <p:cNvPr id="7" name="Shape 4"/>
          <p:cNvSpPr/>
          <p:nvPr/>
        </p:nvSpPr>
        <p:spPr>
          <a:xfrm>
            <a:off x="731520" y="4663440"/>
            <a:ext cx="18288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From Classical CV to Deep Learning</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143000"/>
            <a:ext cx="3931920" cy="32918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143000"/>
            <a:ext cx="3931920" cy="457200"/>
          </a:xfrm>
          <a:prstGeom prst="rect">
            <a:avLst/>
          </a:prstGeom>
          <a:solidFill>
            <a:srgbClr val="1E3A5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161288"/>
            <a:ext cx="3657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Classical CV (what we've done)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4434840" y="2468880"/>
            <a:ext cx="320040" cy="320040"/>
          </a:xfrm>
          <a:prstGeom prst="rect">
            <a:avLst/>
          </a:prstGeom>
        </p:spPr>
      </p:pic>
      <p:sp>
        <p:nvSpPr>
          <p:cNvPr id="8" name="Shape 5"/>
          <p:cNvSpPr/>
          <p:nvPr/>
        </p:nvSpPr>
        <p:spPr>
          <a:xfrm>
            <a:off x="4754880" y="1143000"/>
            <a:ext cx="3931920" cy="32918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4754880" y="1143000"/>
            <a:ext cx="3931920" cy="457200"/>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937760" y="1161288"/>
            <a:ext cx="3657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Deep Learning (CNNs)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4937760" y="1691640"/>
            <a:ext cx="3474720" cy="2560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The model learns the rules: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Show it 100s of labelled examples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It discovers what features matter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Generalises to new, unseen images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Handles variation in lighting, angle, and background. Needs data + compute, but far more flexible.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6 — Object Recognition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4">
            <a:extLst>
              <a:ext uri="{FF2B5EF4-FFF2-40B4-BE49-F238E27FC236}">
                <a16:creationId xmlns:a16="http://schemas.microsoft.com/office/drawing/2014/main" id="{F4BCE2B6-8078-AFE7-FEEB-02CAA21C15EC}"/>
              </a:ext>
            </a:extLst>
          </p:cNvPr>
          <p:cNvSpPr/>
          <p:nvPr/>
        </p:nvSpPr>
        <p:spPr>
          <a:xfrm>
            <a:off x="640080" y="1709928"/>
            <a:ext cx="3474720" cy="2560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You define the rules:</a:t>
            </a:r>
            <a:endParaRPr lang="en-US" sz="1300" dirty="0"/>
          </a:p>
          <a:p>
            <a:pPr marL="0" indent="0">
              <a:buNone/>
            </a:pPr>
            <a:endParaRPr lang="en-US" sz="13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"Sharpen with this kernel"</a:t>
            </a:r>
            <a:endParaRPr lang="en-US" sz="13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"Detect this chessboard pattern"</a:t>
            </a:r>
            <a:endParaRPr lang="en-US" sz="13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"Look for this ArUco dictionary"</a:t>
            </a:r>
            <a:endParaRPr lang="en-US" sz="1300" dirty="0"/>
          </a:p>
          <a:p>
            <a:pPr marL="0" indent="0">
              <a:buNone/>
            </a:pPr>
            <a:endParaRPr lang="en-US" sz="1300" dirty="0"/>
          </a:p>
          <a:p>
            <a:pPr marL="0" indent="0">
              <a:buNone/>
            </a:pPr>
            <a:r>
              <a:rPr lang="en-US" sz="1100" dirty="0">
                <a:solidFill>
                  <a:srgbClr val="64748B"/>
                </a:solidFill>
                <a:latin typeface="Calibri" pitchFamily="34" charset="0"/>
                <a:ea typeface="Calibri" pitchFamily="34" charset="-122"/>
                <a:cs typeface="Calibri" pitchFamily="34" charset="-120"/>
              </a:rPr>
              <a:t>Works great when you know exactly what to look for. Struggles with variation i.e., lighting, angle, clutter.</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How CNNs See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777240"/>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A Hierarchy of Features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143000"/>
            <a:ext cx="7863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 Convolutional Neural Network learns to recognise objects by building up from simple to complex features, layer by layer.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74320" y="1600200"/>
            <a:ext cx="1554480" cy="14630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274320" y="1600200"/>
            <a:ext cx="1554480" cy="73152"/>
          </a:xfrm>
          <a:prstGeom prst="rect">
            <a:avLst/>
          </a:prstGeom>
          <a:solidFill>
            <a:srgbClr val="6474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373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Input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103120"/>
            <a:ext cx="13716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Raw pixel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values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Image 0" descr="preencoded.png"/>
          <p:cNvPicPr>
            <a:picLocks noChangeAspect="1"/>
          </p:cNvPicPr>
          <p:nvPr/>
        </p:nvPicPr>
        <p:blipFill>
          <a:blip r:embed="rId3"/>
          <a:stretch>
            <a:fillRect/>
          </a:stretch>
        </p:blipFill>
        <p:spPr>
          <a:xfrm>
            <a:off x="1847088" y="2103120"/>
            <a:ext cx="201168" cy="201168"/>
          </a:xfrm>
          <a:prstGeom prst="rect">
            <a:avLst/>
          </a:prstGeom>
        </p:spPr>
      </p:pic>
      <p:sp>
        <p:nvSpPr>
          <p:cNvPr id="10" name="Shape 7"/>
          <p:cNvSpPr/>
          <p:nvPr/>
        </p:nvSpPr>
        <p:spPr>
          <a:xfrm>
            <a:off x="2057400" y="1600200"/>
            <a:ext cx="1554480" cy="14630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2057400" y="1600200"/>
            <a:ext cx="1554480" cy="73152"/>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148840" y="17373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Early Layers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2148840" y="2103120"/>
            <a:ext cx="13716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Edges,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corners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3"/>
          <a:stretch>
            <a:fillRect/>
          </a:stretch>
        </p:blipFill>
        <p:spPr>
          <a:xfrm>
            <a:off x="3630168" y="2103120"/>
            <a:ext cx="201168" cy="201168"/>
          </a:xfrm>
          <a:prstGeom prst="rect">
            <a:avLst/>
          </a:prstGeom>
        </p:spPr>
      </p:pic>
      <p:sp>
        <p:nvSpPr>
          <p:cNvPr id="15" name="Shape 11"/>
          <p:cNvSpPr/>
          <p:nvPr/>
        </p:nvSpPr>
        <p:spPr>
          <a:xfrm>
            <a:off x="3840480" y="1600200"/>
            <a:ext cx="1554480" cy="14630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3840480" y="1600200"/>
            <a:ext cx="1554480" cy="73152"/>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p:cNvSpPr/>
          <p:nvPr/>
        </p:nvSpPr>
        <p:spPr>
          <a:xfrm>
            <a:off x="3931920" y="17373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Middle Layers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3931920" y="2103120"/>
            <a:ext cx="13716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Shapes, textures,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 2" descr="preencoded.png"/>
          <p:cNvPicPr>
            <a:picLocks noChangeAspect="1"/>
          </p:cNvPicPr>
          <p:nvPr/>
        </p:nvPicPr>
        <p:blipFill>
          <a:blip r:embed="rId3"/>
          <a:stretch>
            <a:fillRect/>
          </a:stretch>
        </p:blipFill>
        <p:spPr>
          <a:xfrm>
            <a:off x="5413248" y="2103120"/>
            <a:ext cx="201168" cy="201168"/>
          </a:xfrm>
          <a:prstGeom prst="rect">
            <a:avLst/>
          </a:prstGeom>
        </p:spPr>
      </p:pic>
      <p:sp>
        <p:nvSpPr>
          <p:cNvPr id="20" name="Shape 15"/>
          <p:cNvSpPr/>
          <p:nvPr/>
        </p:nvSpPr>
        <p:spPr>
          <a:xfrm>
            <a:off x="5623560" y="1600200"/>
            <a:ext cx="1554480" cy="14630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5623560" y="1600200"/>
            <a:ext cx="1554480" cy="73152"/>
          </a:xfrm>
          <a:prstGeom prst="rect">
            <a:avLst/>
          </a:prstGeom>
          <a:solidFill>
            <a:srgbClr val="1E3A5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7"/>
          <p:cNvSpPr/>
          <p:nvPr/>
        </p:nvSpPr>
        <p:spPr>
          <a:xfrm>
            <a:off x="5715000" y="17373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Deep Layers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5715000" y="2103120"/>
            <a:ext cx="13716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Object parts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eyes, wheels, fur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4" name="Image 3" descr="preencoded.png"/>
          <p:cNvPicPr>
            <a:picLocks noChangeAspect="1"/>
          </p:cNvPicPr>
          <p:nvPr/>
        </p:nvPicPr>
        <p:blipFill>
          <a:blip r:embed="rId3"/>
          <a:stretch>
            <a:fillRect/>
          </a:stretch>
        </p:blipFill>
        <p:spPr>
          <a:xfrm>
            <a:off x="7196328" y="2103120"/>
            <a:ext cx="201168" cy="201168"/>
          </a:xfrm>
          <a:prstGeom prst="rect">
            <a:avLst/>
          </a:prstGeom>
        </p:spPr>
      </p:pic>
      <p:sp>
        <p:nvSpPr>
          <p:cNvPr id="25" name="Shape 19"/>
          <p:cNvSpPr/>
          <p:nvPr/>
        </p:nvSpPr>
        <p:spPr>
          <a:xfrm>
            <a:off x="7406640" y="1600200"/>
            <a:ext cx="1554480" cy="146304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0"/>
          <p:cNvSpPr/>
          <p:nvPr/>
        </p:nvSpPr>
        <p:spPr>
          <a:xfrm>
            <a:off x="7406640" y="1600200"/>
            <a:ext cx="1554480" cy="73152"/>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p:nvPr/>
        </p:nvSpPr>
        <p:spPr>
          <a:xfrm>
            <a:off x="7498080" y="17373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Output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2"/>
          <p:cNvSpPr/>
          <p:nvPr/>
        </p:nvSpPr>
        <p:spPr>
          <a:xfrm>
            <a:off x="7498080" y="2103120"/>
            <a:ext cx="13716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"This is</a:t>
            </a:r>
            <a:r>
              <a:rPr lang="en-US" sz="1200" dirty="0">
                <a:solidFill>
                  <a:prstClr val="black"/>
                </a:solidFill>
                <a:latin typeface="Calibri" panose="020F0502020204030204"/>
              </a:rPr>
              <a:t> </a:t>
            </a: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 cat!“</a:t>
            </a:r>
          </a:p>
          <a:p>
            <a:pPr lvl="0" algn="ctr"/>
            <a:r>
              <a:rPr lang="en-US" sz="1200" dirty="0">
                <a:solidFill>
                  <a:prstClr val="black"/>
                </a:solidFill>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3"/>
          <p:cNvSpPr/>
          <p:nvPr/>
        </p:nvSpPr>
        <p:spPr>
          <a:xfrm>
            <a:off x="640080" y="3337560"/>
            <a:ext cx="7863840" cy="11887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40080" y="3337560"/>
            <a:ext cx="73152" cy="118872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5"/>
          <p:cNvSpPr/>
          <p:nvPr/>
        </p:nvSpPr>
        <p:spPr>
          <a:xfrm>
            <a:off x="960120" y="3401568"/>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The Key Insight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6"/>
          <p:cNvSpPr/>
          <p:nvPr/>
        </p:nvSpPr>
        <p:spPr>
          <a:xfrm>
            <a:off x="960120" y="3703320"/>
            <a:ext cx="731520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Convolution </a:t>
            </a:r>
            <a:r>
              <a:rPr kumimoji="0" lang="en-US" sz="1200" b="0"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 sliding a small filter across the image to detect a specific pattern (edge, corner, texture). The network learns what filters to use — you don't have to design them by hand like we did with HSV thresholds. Each layer combines the previous layer's features into more abstract representations.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7"/>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8"/>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6 — Object Recognition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9"/>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Live Demo: Teachable Machine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960120"/>
            <a:ext cx="7863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Train your own image classifier in the browser — no code required!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463040"/>
            <a:ext cx="7863840" cy="50292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640080" y="1463040"/>
            <a:ext cx="786384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teachablemachine.withgoogle.com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58568"/>
            <a:ext cx="411480" cy="41148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40080" y="2258568"/>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234440" y="2194560"/>
            <a:ext cx="7315200" cy="530352"/>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1371600" y="2212848"/>
            <a:ext cx="20116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Create Classes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371600" y="2450592"/>
            <a:ext cx="68580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Define 2–3 categories you want to recognise (e.g. "pen", "phone", "nothing")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40080" y="2898648"/>
            <a:ext cx="411480" cy="41148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640080" y="2898648"/>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234440" y="2834640"/>
            <a:ext cx="7315200" cy="530352"/>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1371600" y="2852928"/>
            <a:ext cx="20116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Record Samples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090672"/>
            <a:ext cx="68580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Use your webcam to capture ~50 images per class. Move the object around for variety.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40080" y="3538728"/>
            <a:ext cx="411480" cy="41148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40080" y="3538728"/>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1234440" y="3474720"/>
            <a:ext cx="7315200" cy="530352"/>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1371600" y="3493008"/>
            <a:ext cx="20116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Train the Model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371600" y="3730752"/>
            <a:ext cx="68580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Click "Train Model" — a CNN trains right in your browser in seconds using transfer learning.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640080" y="4178808"/>
            <a:ext cx="411480" cy="41148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40080" y="4178808"/>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234440" y="4114800"/>
            <a:ext cx="7315200" cy="530352"/>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1371600" y="4133088"/>
            <a:ext cx="20116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Test It Live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371600" y="4370832"/>
            <a:ext cx="68580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Point your webcam at objects and watch the model classify in real time. Try to fool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Section 6 — Object Recognition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F172A"/>
                </a:solidFill>
                <a:effectLst/>
                <a:uLnTx/>
                <a:uFillTx/>
                <a:latin typeface="Trebuchet MS" pitchFamily="34" charset="0"/>
                <a:ea typeface="Trebuchet MS" pitchFamily="34" charset="-122"/>
                <a:cs typeface="Trebuchet MS" pitchFamily="34" charset="-120"/>
              </a:rPr>
              <a:t>Key Takeaways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640080" y="1097280"/>
            <a:ext cx="7863840" cy="5029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77240" y="1161288"/>
            <a:ext cx="384048" cy="384048"/>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850392" y="1234440"/>
            <a:ext cx="237744" cy="237744"/>
          </a:xfrm>
          <a:prstGeom prst="rect">
            <a:avLst/>
          </a:prstGeom>
        </p:spPr>
      </p:pic>
      <p:sp>
        <p:nvSpPr>
          <p:cNvPr id="6" name="Text 3"/>
          <p:cNvSpPr/>
          <p:nvPr/>
        </p:nvSpPr>
        <p:spPr>
          <a:xfrm>
            <a:off x="1371600" y="1106424"/>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Images = NumPy Arrays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1371600" y="1344168"/>
            <a:ext cx="6858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BGR order, uint8 values. Split channels to understand colour.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40080" y="1691640"/>
            <a:ext cx="7863840" cy="5029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777240" y="1755648"/>
            <a:ext cx="384048" cy="384048"/>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4"/>
          <a:stretch>
            <a:fillRect/>
          </a:stretch>
        </p:blipFill>
        <p:spPr>
          <a:xfrm>
            <a:off x="850392" y="1828800"/>
            <a:ext cx="237744" cy="237744"/>
          </a:xfrm>
          <a:prstGeom prst="rect">
            <a:avLst/>
          </a:prstGeom>
        </p:spPr>
      </p:pic>
      <p:sp>
        <p:nvSpPr>
          <p:cNvPr id="11" name="Text 7"/>
          <p:cNvSpPr/>
          <p:nvPr/>
        </p:nvSpPr>
        <p:spPr>
          <a:xfrm>
            <a:off x="1371600" y="1700784"/>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Operations are Array Ops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1371600" y="1938528"/>
            <a:ext cx="6858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Crop, resize, mask — it's all NumPy slicing and OpenCV functions.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640080" y="2286000"/>
            <a:ext cx="7863840" cy="5029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0"/>
          <p:cNvSpPr/>
          <p:nvPr/>
        </p:nvSpPr>
        <p:spPr>
          <a:xfrm>
            <a:off x="777240" y="2350008"/>
            <a:ext cx="384048" cy="384048"/>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2" descr="preencoded.png"/>
          <p:cNvPicPr>
            <a:picLocks noChangeAspect="1"/>
          </p:cNvPicPr>
          <p:nvPr/>
        </p:nvPicPr>
        <p:blipFill>
          <a:blip r:embed="rId5"/>
          <a:stretch>
            <a:fillRect/>
          </a:stretch>
        </p:blipFill>
        <p:spPr>
          <a:xfrm>
            <a:off x="850392" y="2423160"/>
            <a:ext cx="237744" cy="237744"/>
          </a:xfrm>
          <a:prstGeom prst="rect">
            <a:avLst/>
          </a:prstGeom>
        </p:spPr>
      </p:pic>
      <p:sp>
        <p:nvSpPr>
          <p:cNvPr id="16" name="Text 11"/>
          <p:cNvSpPr/>
          <p:nvPr/>
        </p:nvSpPr>
        <p:spPr>
          <a:xfrm>
            <a:off x="1371600" y="2295144"/>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Kernels = Convolution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2"/>
          <p:cNvSpPr/>
          <p:nvPr/>
        </p:nvSpPr>
        <p:spPr>
          <a:xfrm>
            <a:off x="1371600" y="2532888"/>
            <a:ext cx="6858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Small matrices that blur, sharpen, or detect edges when slid across the image.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3"/>
          <p:cNvSpPr/>
          <p:nvPr/>
        </p:nvSpPr>
        <p:spPr>
          <a:xfrm>
            <a:off x="640080" y="2880360"/>
            <a:ext cx="7863840" cy="5029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4"/>
          <p:cNvSpPr/>
          <p:nvPr/>
        </p:nvSpPr>
        <p:spPr>
          <a:xfrm>
            <a:off x="777240" y="2944368"/>
            <a:ext cx="384048" cy="384048"/>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850392" y="3017520"/>
            <a:ext cx="237744" cy="237744"/>
          </a:xfrm>
          <a:prstGeom prst="rect">
            <a:avLst/>
          </a:prstGeom>
        </p:spPr>
      </p:pic>
      <p:sp>
        <p:nvSpPr>
          <p:cNvPr id="21" name="Text 15"/>
          <p:cNvSpPr/>
          <p:nvPr/>
        </p:nvSpPr>
        <p:spPr>
          <a:xfrm>
            <a:off x="1371600" y="2889504"/>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Calibration Enables Measurement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1371600" y="3127248"/>
            <a:ext cx="6858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Camera matrix + distortion coefficients let you reason about real-world geometry.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7"/>
          <p:cNvSpPr/>
          <p:nvPr/>
        </p:nvSpPr>
        <p:spPr>
          <a:xfrm>
            <a:off x="640080" y="3474720"/>
            <a:ext cx="7863840" cy="5029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8"/>
          <p:cNvSpPr/>
          <p:nvPr/>
        </p:nvSpPr>
        <p:spPr>
          <a:xfrm>
            <a:off x="777240" y="3538728"/>
            <a:ext cx="384048" cy="384048"/>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4" descr="preencoded.png"/>
          <p:cNvPicPr>
            <a:picLocks noChangeAspect="1"/>
          </p:cNvPicPr>
          <p:nvPr/>
        </p:nvPicPr>
        <p:blipFill>
          <a:blip r:embed="rId7"/>
          <a:stretch>
            <a:fillRect/>
          </a:stretch>
        </p:blipFill>
        <p:spPr>
          <a:xfrm>
            <a:off x="850392" y="3611880"/>
            <a:ext cx="237744" cy="237744"/>
          </a:xfrm>
          <a:prstGeom prst="rect">
            <a:avLst/>
          </a:prstGeom>
        </p:spPr>
      </p:pic>
      <p:sp>
        <p:nvSpPr>
          <p:cNvPr id="26" name="Text 19"/>
          <p:cNvSpPr/>
          <p:nvPr/>
        </p:nvSpPr>
        <p:spPr>
          <a:xfrm>
            <a:off x="1371600" y="3483864"/>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ArUco → 3D Pose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0"/>
          <p:cNvSpPr/>
          <p:nvPr/>
        </p:nvSpPr>
        <p:spPr>
          <a:xfrm>
            <a:off x="1371600" y="3721608"/>
            <a:ext cx="6858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Fiducial markers give instant position &amp; orientation. Measure distances in metres.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1"/>
          <p:cNvSpPr/>
          <p:nvPr/>
        </p:nvSpPr>
        <p:spPr>
          <a:xfrm>
            <a:off x="640080" y="4069080"/>
            <a:ext cx="7863840" cy="502920"/>
          </a:xfrm>
          <a:prstGeom prst="rect">
            <a:avLst/>
          </a:prstGeom>
          <a:solidFill>
            <a:srgbClr val="FFFFFF"/>
          </a:solidFill>
          <a:ln/>
          <a:effectLst>
            <a:outerShdw blurRad="508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2"/>
          <p:cNvSpPr/>
          <p:nvPr/>
        </p:nvSpPr>
        <p:spPr>
          <a:xfrm>
            <a:off x="777240" y="4133088"/>
            <a:ext cx="384048" cy="384048"/>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5" descr="preencoded.png"/>
          <p:cNvPicPr>
            <a:picLocks noChangeAspect="1"/>
          </p:cNvPicPr>
          <p:nvPr/>
        </p:nvPicPr>
        <p:blipFill>
          <a:blip r:embed="rId8"/>
          <a:stretch>
            <a:fillRect/>
          </a:stretch>
        </p:blipFill>
        <p:spPr>
          <a:xfrm>
            <a:off x="850392" y="4206240"/>
            <a:ext cx="237744" cy="237744"/>
          </a:xfrm>
          <a:prstGeom prst="rect">
            <a:avLst/>
          </a:prstGeom>
        </p:spPr>
      </p:pic>
      <p:sp>
        <p:nvSpPr>
          <p:cNvPr id="31" name="Text 23"/>
          <p:cNvSpPr/>
          <p:nvPr/>
        </p:nvSpPr>
        <p:spPr>
          <a:xfrm>
            <a:off x="1371600" y="4078224"/>
            <a:ext cx="3657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CNNs Learn to See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4"/>
          <p:cNvSpPr/>
          <p:nvPr/>
        </p:nvSpPr>
        <p:spPr>
          <a:xfrm>
            <a:off x="1371600" y="4315968"/>
            <a:ext cx="6858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Deep learning replaces hand-crafted rules with learned features from data.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5"/>
          <p:cNvSpPr/>
          <p:nvPr/>
        </p:nvSpPr>
        <p:spPr>
          <a:xfrm>
            <a:off x="0" y="4754880"/>
            <a:ext cx="9144000" cy="388620"/>
          </a:xfrm>
          <a:prstGeom prst="rect">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6"/>
          <p:cNvSpPr/>
          <p:nvPr/>
        </p:nvSpPr>
        <p:spPr>
          <a:xfrm>
            <a:off x="457200" y="4773168"/>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Summary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p:nvPr/>
        </p:nvSpPr>
        <p:spPr>
          <a:xfrm>
            <a:off x="6400800" y="4773168"/>
            <a:ext cx="22860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UQ MARS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AE"/>
          </a:p>
        </p:txBody>
      </p:sp>
      <p:sp>
        <p:nvSpPr>
          <p:cNvPr id="3" name="Text 1"/>
          <p:cNvSpPr/>
          <p:nvPr/>
        </p:nvSpPr>
        <p:spPr>
          <a:xfrm>
            <a:off x="731520" y="914400"/>
            <a:ext cx="731520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Trebuchet MS" pitchFamily="34" charset="0"/>
                <a:ea typeface="Trebuchet MS" pitchFamily="34" charset="-122"/>
                <a:cs typeface="Trebuchet MS" pitchFamily="34" charset="-120"/>
              </a:rPr>
              <a:t>Thanks for attending!</a:t>
            </a:r>
            <a:endParaRPr lang="en-US" sz="4400" dirty="0"/>
          </a:p>
        </p:txBody>
      </p:sp>
      <p:sp>
        <p:nvSpPr>
          <p:cNvPr id="4" name="Text 2"/>
          <p:cNvSpPr/>
          <p:nvPr/>
        </p:nvSpPr>
        <p:spPr>
          <a:xfrm>
            <a:off x="1371600" y="2011680"/>
            <a:ext cx="6400800" cy="365760"/>
          </a:xfrm>
          <a:prstGeom prst="rect">
            <a:avLst/>
          </a:prstGeom>
          <a:noFill/>
          <a:ln/>
        </p:spPr>
        <p:txBody>
          <a:bodyPr wrap="square" lIns="0" tIns="0" rIns="0" bIns="0"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Workshop code &amp; resources</a:t>
            </a:r>
            <a:endParaRPr lang="en-US" sz="1600" dirty="0"/>
          </a:p>
        </p:txBody>
      </p:sp>
      <p:sp>
        <p:nvSpPr>
          <p:cNvPr id="5" name="Shape 3"/>
          <p:cNvSpPr/>
          <p:nvPr/>
        </p:nvSpPr>
        <p:spPr>
          <a:xfrm>
            <a:off x="1828800" y="2468880"/>
            <a:ext cx="5486400" cy="548640"/>
          </a:xfrm>
          <a:prstGeom prst="rect">
            <a:avLst/>
          </a:prstGeom>
          <a:solidFill>
            <a:srgbClr val="1E3A5F"/>
          </a:solidFill>
          <a:ln/>
        </p:spPr>
        <p:txBody>
          <a:bodyPr/>
          <a:lstStyle/>
          <a:p>
            <a:endParaRPr lang="en-AE"/>
          </a:p>
        </p:txBody>
      </p:sp>
      <p:sp>
        <p:nvSpPr>
          <p:cNvPr id="6" name="Text 4"/>
          <p:cNvSpPr/>
          <p:nvPr/>
        </p:nvSpPr>
        <p:spPr>
          <a:xfrm>
            <a:off x="1828800" y="2468880"/>
            <a:ext cx="5486400" cy="548640"/>
          </a:xfrm>
          <a:prstGeom prst="rect">
            <a:avLst/>
          </a:prstGeom>
          <a:noFill/>
          <a:ln/>
        </p:spPr>
        <p:txBody>
          <a:bodyPr wrap="square" lIns="0" tIns="0" rIns="0" bIns="0" rtlCol="0" anchor="ctr"/>
          <a:lstStyle/>
          <a:p>
            <a:pPr marL="0" indent="0" algn="ctr">
              <a:buNone/>
            </a:pPr>
            <a:r>
              <a:rPr lang="en-US" sz="1500" dirty="0">
                <a:solidFill>
                  <a:srgbClr val="22D3EE"/>
                </a:solidFill>
                <a:latin typeface="Consolas" pitchFamily="34" charset="0"/>
                <a:ea typeface="Consolas" pitchFamily="34" charset="-122"/>
                <a:cs typeface="Consolas" pitchFamily="34" charset="-120"/>
              </a:rPr>
              <a:t>github.com/uqmars/workshop-resources/CV/2026</a:t>
            </a:r>
            <a:endParaRPr lang="en-US" sz="1500" dirty="0"/>
          </a:p>
        </p:txBody>
      </p:sp>
      <p:sp>
        <p:nvSpPr>
          <p:cNvPr id="7" name="Shape 5"/>
          <p:cNvSpPr/>
          <p:nvPr/>
        </p:nvSpPr>
        <p:spPr>
          <a:xfrm>
            <a:off x="2743200" y="3383280"/>
            <a:ext cx="3657600" cy="36576"/>
          </a:xfrm>
          <a:prstGeom prst="rect">
            <a:avLst/>
          </a:prstGeom>
          <a:solidFill>
            <a:srgbClr val="0891B2"/>
          </a:solidFill>
          <a:ln/>
        </p:spPr>
        <p:txBody>
          <a:bodyPr/>
          <a:lstStyle/>
          <a:p>
            <a:endParaRPr lang="en-AE"/>
          </a:p>
        </p:txBody>
      </p:sp>
      <p:sp>
        <p:nvSpPr>
          <p:cNvPr id="8" name="Text 6"/>
          <p:cNvSpPr/>
          <p:nvPr/>
        </p:nvSpPr>
        <p:spPr>
          <a:xfrm>
            <a:off x="1828800" y="3566160"/>
            <a:ext cx="548640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UQ Mechatronics &amp; Robotics Society</a:t>
            </a:r>
          </a:p>
        </p:txBody>
      </p:sp>
      <p:pic>
        <p:nvPicPr>
          <p:cNvPr id="12" name="Picture 11">
            <a:extLst>
              <a:ext uri="{FF2B5EF4-FFF2-40B4-BE49-F238E27FC236}">
                <a16:creationId xmlns:a16="http://schemas.microsoft.com/office/drawing/2014/main" id="{6B1CA981-B7B0-C032-BA53-F478A04F5BAC}"/>
              </a:ext>
            </a:extLst>
          </p:cNvPr>
          <p:cNvPicPr>
            <a:picLocks noChangeAspect="1"/>
          </p:cNvPicPr>
          <p:nvPr/>
        </p:nvPicPr>
        <p:blipFill>
          <a:blip r:embed="rId3"/>
          <a:stretch>
            <a:fillRect/>
          </a:stretch>
        </p:blipFill>
        <p:spPr>
          <a:xfrm>
            <a:off x="239151" y="3215488"/>
            <a:ext cx="1589649" cy="1592180"/>
          </a:xfrm>
          <a:prstGeom prst="rect">
            <a:avLst/>
          </a:prstGeom>
        </p:spPr>
      </p:pic>
      <p:pic>
        <p:nvPicPr>
          <p:cNvPr id="13" name="Google Shape;283;p45">
            <a:extLst>
              <a:ext uri="{FF2B5EF4-FFF2-40B4-BE49-F238E27FC236}">
                <a16:creationId xmlns:a16="http://schemas.microsoft.com/office/drawing/2014/main" id="{2FCC37EA-D258-C429-DB42-F64D3A75F2F3}"/>
              </a:ext>
            </a:extLst>
          </p:cNvPr>
          <p:cNvPicPr preferRelativeResize="0">
            <a:picLocks noChangeAspect="1"/>
          </p:cNvPicPr>
          <p:nvPr/>
        </p:nvPicPr>
        <p:blipFill rotWithShape="1">
          <a:blip r:embed="rId4">
            <a:alphaModFix/>
          </a:blip>
          <a:srcRect/>
          <a:stretch/>
        </p:blipFill>
        <p:spPr>
          <a:xfrm>
            <a:off x="7144102" y="3108960"/>
            <a:ext cx="1805236" cy="1805236"/>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1448</TotalTime>
  <Words>2334</Words>
  <Application>Microsoft Office PowerPoint</Application>
  <PresentationFormat>On-screen Show (16:9)</PresentationFormat>
  <Paragraphs>432</Paragraphs>
  <Slides>30</Slides>
  <Notes>30</Notes>
  <HiddenSlides>0</HiddenSlides>
  <MMClips>2</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Aptos</vt:lpstr>
      <vt:lpstr>Arial</vt:lpstr>
      <vt:lpstr>Calibri</vt:lpstr>
      <vt:lpstr>Consolas</vt:lpstr>
      <vt:lpstr>Trebuchet MS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UQ MARS Computer Vision Workshop 2025</dc:title>
  <dc:subject>PptxGenJS Presentation</dc:subject>
  <dc:creator>Zac Apelt - UQ MARS</dc:creator>
  <cp:lastModifiedBy>Shaariq Jaldin</cp:lastModifiedBy>
  <cp:revision>4</cp:revision>
  <cp:lastPrinted>2026-04-14T01:57:27Z</cp:lastPrinted>
  <dcterms:created xsi:type="dcterms:W3CDTF">2026-04-13T05:34:26Z</dcterms:created>
  <dcterms:modified xsi:type="dcterms:W3CDTF">2026-04-14T05:46:24Z</dcterms:modified>
</cp:coreProperties>
</file>