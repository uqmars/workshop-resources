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7"/>
  </p:notesMasterIdLst>
  <p:sldIdLst>
    <p:sldId id="275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76" r:id="rId13"/>
    <p:sldId id="277" r:id="rId14"/>
    <p:sldId id="269" r:id="rId15"/>
    <p:sldId id="274" r:id="rId16"/>
  </p:sldIdLst>
  <p:sldSz cx="12192000" cy="6858000"/>
  <p:notesSz cx="7104063" cy="102346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9914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4416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05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pPr defTabSz="1219170"/>
            <a:endParaRPr lang="en-A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975360" y="1219200"/>
            <a:ext cx="591714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 to ROS2</a:t>
            </a:r>
            <a:endParaRPr lang="en-US" sz="7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975360" y="2560320"/>
            <a:ext cx="5848134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0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 2026</a:t>
            </a:r>
            <a:endParaRPr lang="en-US" sz="6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75359" y="3525310"/>
            <a:ext cx="6377353" cy="45719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pPr defTabSz="1219170"/>
            <a:endParaRPr lang="en-AE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0" y="361071"/>
            <a:ext cx="2682240" cy="26822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pPr defTabSz="1219170"/>
            <a:endParaRPr lang="en-A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0485120" y="300111"/>
            <a:ext cx="1463040" cy="1463040"/>
          </a:xfrm>
          <a:prstGeom prst="ellipse">
            <a:avLst/>
          </a:prstGeom>
          <a:solidFill>
            <a:srgbClr val="0891B2">
              <a:alpha val="70000"/>
            </a:srgbClr>
          </a:solidFill>
          <a:ln/>
        </p:spPr>
        <p:txBody>
          <a:bodyPr/>
          <a:lstStyle/>
          <a:p>
            <a:pPr defTabSz="1219170"/>
            <a:endParaRPr lang="en-A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Google Shape;283;p45">
            <a:extLst>
              <a:ext uri="{FF2B5EF4-FFF2-40B4-BE49-F238E27FC236}">
                <a16:creationId xmlns:a16="http://schemas.microsoft.com/office/drawing/2014/main" id="{5A022D4E-3998-3B13-0BAC-667BB10D8FA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93834" y="3713871"/>
            <a:ext cx="2875905" cy="287590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C27F1B-522D-2E43-6A82-129524DD9A2A}"/>
              </a:ext>
            </a:extLst>
          </p:cNvPr>
          <p:cNvSpPr txBox="1"/>
          <p:nvPr/>
        </p:nvSpPr>
        <p:spPr>
          <a:xfrm>
            <a:off x="9435121" y="3287151"/>
            <a:ext cx="1393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/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LINKTREE</a:t>
            </a:r>
            <a:endParaRPr lang="en-AE" sz="2400" b="1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14EFA232-33B9-E1FA-BCB2-79C78895F67F}"/>
              </a:ext>
            </a:extLst>
          </p:cNvPr>
          <p:cNvSpPr/>
          <p:nvPr/>
        </p:nvSpPr>
        <p:spPr>
          <a:xfrm>
            <a:off x="924176" y="3803904"/>
            <a:ext cx="6589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F2FA"/>
                </a:solidFill>
                <a:latin typeface="Aptos Light" panose="020B0004020202020204" pitchFamily="34" charset="0"/>
                <a:ea typeface="Arial" pitchFamily="34" charset="-122"/>
                <a:cs typeface="Arial" pitchFamily="34" charset="-120"/>
              </a:rPr>
              <a:t>From a blank VM to a robot driving a </a:t>
            </a:r>
            <a:r>
              <a:rPr lang="en-US" sz="2800" dirty="0" err="1">
                <a:solidFill>
                  <a:srgbClr val="EDF2FA"/>
                </a:solidFill>
                <a:latin typeface="Aptos Light" panose="020B0004020202020204" pitchFamily="34" charset="0"/>
                <a:ea typeface="Arial" pitchFamily="34" charset="-122"/>
                <a:cs typeface="Arial" pitchFamily="34" charset="-120"/>
              </a:rPr>
              <a:t>turtlebot</a:t>
            </a:r>
            <a:r>
              <a:rPr lang="en-US" sz="2800" dirty="0">
                <a:solidFill>
                  <a:srgbClr val="EDF2FA"/>
                </a:solidFill>
                <a:latin typeface="Aptos Light" panose="020B0004020202020204" pitchFamily="34" charset="0"/>
                <a:ea typeface="Arial" pitchFamily="34" charset="-122"/>
                <a:cs typeface="Arial" pitchFamily="34" charset="-120"/>
              </a:rPr>
              <a:t> in Gazebo</a:t>
            </a:r>
            <a:endParaRPr lang="en-US" sz="2800" dirty="0">
              <a:latin typeface="Aptos Light" panose="020B000402020202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3EEF20E-6019-3A3A-777C-89B26ACD4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" y="5404822"/>
            <a:ext cx="4419600" cy="12900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E65EB49-3E1C-A1EC-1AC6-00C650C8FC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7763" y="524256"/>
            <a:ext cx="1648795" cy="2325979"/>
          </a:xfrm>
          <a:prstGeom prst="rect">
            <a:avLst/>
          </a:prstGeom>
        </p:spPr>
      </p:pic>
      <p:pic>
        <p:nvPicPr>
          <p:cNvPr id="21" name="Graphic 20" descr="Robot Hand with solid fill">
            <a:extLst>
              <a:ext uri="{FF2B5EF4-FFF2-40B4-BE49-F238E27FC236}">
                <a16:creationId xmlns:a16="http://schemas.microsoft.com/office/drawing/2014/main" id="{FEBA1D9A-70B4-3314-AC0C-1D0FE8041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0611" y="445958"/>
            <a:ext cx="1072058" cy="10720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&gt;_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34440" y="160020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83080" y="154533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Setup &amp; Install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83080" y="189280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the VM — Ubuntu 22, ROS2 Humble, Gazebo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65176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83080" y="259689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ROS2?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783080" y="294436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Nodes, topics, and services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34440" y="370332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83080" y="364845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Package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83080" y="399592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mars_ws, ros2 pkg create, the files it scaffolds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234440" y="475488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83080" y="470001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Publisher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83080" y="504748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Twist messages, create_publisher, create_timer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46520" y="160020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644652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040880" y="160020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589520" y="154533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Subscriber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589520" y="189280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create_subscription and a callback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46520" y="265176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9" name="Text 27"/>
          <p:cNvSpPr/>
          <p:nvPr/>
        </p:nvSpPr>
        <p:spPr>
          <a:xfrm>
            <a:off x="644652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040880" y="265176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589520" y="259689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Run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589520" y="294436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colcon build, ros2 run, launch files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46520" y="3703320"/>
            <a:ext cx="502920" cy="502920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6446520" y="3703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040880" y="370332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589520" y="364845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589520" y="399592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Controlling the TurtleBot3 in Gazebo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46520" y="475488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9" name="Text 37"/>
          <p:cNvSpPr/>
          <p:nvPr/>
        </p:nvSpPr>
        <p:spPr>
          <a:xfrm>
            <a:off x="644652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▢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040880" y="4754880"/>
            <a:ext cx="411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589520" y="470001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Task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7589520" y="504748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publisher with a simple state machine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0" y="6428232"/>
            <a:ext cx="12188952" cy="429768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4" name="Text 42"/>
          <p:cNvSpPr/>
          <p:nvPr/>
        </p:nvSpPr>
        <p:spPr>
          <a:xfrm>
            <a:off x="457200" y="6428232"/>
            <a:ext cx="54864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ROS2 Workshop 2026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601200" y="6428232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UQ MARS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  <p:sndAc>
          <p:stSnd>
            <p:snd r:embed="rId3" name="explode.wav"/>
          </p:stSnd>
        </p:sndAc>
      </p:transition>
    </mc:Choice>
    <mc:Fallback>
      <p:transition spd="slow">
        <p:fade/>
        <p:sndAc>
          <p:stSnd>
            <p:snd r:embed="rId3" name="explod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 start: the Virtual Machine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22, ROS2 Humble, and Gazebo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2057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a Virtual Machine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3957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it running before the workshop, not during 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3017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VM image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3355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provided .ova file, has ROS2 + Gazebo baked in.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3977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43159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VirtualBox → File → Import Appliance → select the .ova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4440" y="4937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527608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0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uqmars   ·   password: uqmars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39" y="5989320"/>
            <a:ext cx="1126954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install Guest Additions (Devices → Insert Guest Additions CD → run VBoxGuestLinux in /media/uqmars/VboxGA) for better display scaling.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086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ROS2, really?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1" y="1440180"/>
            <a:ext cx="5817654" cy="2125980"/>
          </a:xfrm>
          <a:prstGeom prst="roundRect">
            <a:avLst>
              <a:gd name="adj" fmla="val 9091"/>
            </a:avLst>
          </a:prstGeom>
          <a:solidFill>
            <a:srgbClr val="EDF2F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754165" y="1674905"/>
            <a:ext cx="5612130" cy="16519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i="1" dirty="0">
                <a:latin typeface="Arial" pitchFamily="34" charset="0"/>
                <a:ea typeface="Arial" pitchFamily="34" charset="-122"/>
                <a:cs typeface="Arial" pitchFamily="34" charset="-120"/>
              </a:rPr>
              <a:t>Not an OS in the traditional sense: it's communication tooling that sits on top of Linux!</a:t>
            </a:r>
            <a:endParaRPr lang="en-US" sz="1600" b="1" i="1" dirty="0"/>
          </a:p>
          <a:p>
            <a:pPr marL="0" indent="0">
              <a:buNone/>
            </a:pPr>
            <a:endParaRPr lang="en-US" sz="1600" dirty="0">
              <a:solidFill>
                <a:srgbClr val="3A4A6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Operating System is a set of libraries and tools for building robotics software. </a:t>
            </a:r>
          </a:p>
          <a:p>
            <a:pPr marL="0" indent="0">
              <a:buNone/>
            </a:pPr>
            <a:endParaRPr lang="en-US" sz="1600" dirty="0">
              <a:solidFill>
                <a:srgbClr val="3A4A6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for communication between multiple robots and computers</a:t>
            </a:r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EDF2F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68680" y="4572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98348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modular job e.g. drive motors, read a sensor. Talks to other nodes via topics or services.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370332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EDF2F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63440" y="397764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8C7B8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663440" y="4572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98348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channel for exchanging messages. Nodes publish onto it, or subscribe to read from it.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370332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EDF2F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8458200" y="397764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8458200" y="4572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58200" y="498348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Call-and-response, unlike topics. A client requests, a node responds. Out of scope today.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2910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we're using nodes and topics -&gt; services are a story for another day.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pic>
        <p:nvPicPr>
          <p:cNvPr id="20" name="Picture 19" descr="Untitled.png">
            <a:extLst>
              <a:ext uri="{FF2B5EF4-FFF2-40B4-BE49-F238E27FC236}">
                <a16:creationId xmlns:a16="http://schemas.microsoft.com/office/drawing/2014/main" id="{E8CE67B2-C87F-D94C-6F48-ECF432A07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492" y="226400"/>
            <a:ext cx="5725508" cy="321808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ROS2 and make a workspace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workspace is just a folder — where your packages live. You can have several for different projects.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this terminal to the ROS2 install: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/opt/ros/humble/setup.bash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it to your .bashrc so it's automatic in every new terminal: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"source /opt/ros/humble/setup.bash" &gt;&gt; ~/.bashrc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the workspace folder: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822960" y="46177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~/mars_ws/src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5486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we build today lives under ~/mars_ws/src.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package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package is an organisational unit — it bundles the executables and files ROS2 needs to run your code.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~/mars_ws/src/  &amp;&amp;  ros2 pkg create my_package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scaffolds a few key files: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package.xml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340156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about the package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548640" y="40233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resource/my_package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404164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Marker file so ROS2 recognises the package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setup.cfg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46817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executables to ROS2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30352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48640" y="53035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setup.py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53218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instructions and entry points — we'll edit this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publisher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0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my_package/my_package/my_publisher.py — sends a Twist message to /cmd_vel every 0.5s.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3200400"/>
          </a:xfrm>
          <a:prstGeom prst="roundRect">
            <a:avLst>
              <a:gd name="adj" fmla="val 2857"/>
            </a:avLst>
          </a:prstGeom>
          <a:solidFill>
            <a:srgbClr val="0E183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0424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TwistPublisher(Node):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super().__init__("twist_publisher")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self.twistPub_ = self.create_publisher(Twist, "/cmd_vel", 10)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self.timer_ = self.create_timer(0.5, self.timer_cb)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timer_cb(self):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msg = Twist()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msg.linear.x = 1.0   # travel forward at 1 m/s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self.twistPub_.publish(msg)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self.get_logger().info("Sending Twist")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create_publisher(msg_type, topic_name, queue_size)  —  create_timer(seconds, callback)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main() with rclpy.init / spin / shutdown is in the repo — same pattern every time.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subscriber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the publisher, but with a callback instead of a timer.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2834640"/>
          </a:xfrm>
          <a:prstGeom prst="roundRect">
            <a:avLst>
              <a:gd name="adj" fmla="val 3226"/>
            </a:avLst>
          </a:prstGeom>
          <a:solidFill>
            <a:srgbClr val="0E183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TwistSubscriber(Node):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super().__init__("twist_subscriber")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self.twistSub_ = self.create_subscription(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Twist, "/cmd_vel", self.twist_callback, 10)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twist_callback(self, msg: Twist):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self.get_logger().info(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"RECEIVED: TWIST %f" % msg.linear.x)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9377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DF2F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68680" y="493776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create_subscription(msg_type, topic, callback, queue_size) — the callback fires automatically whenever a message arrives on /cmd_vel.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up and run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both scripts as entry points in setup.py: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E183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entry_points={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'console_scripts': [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"twist_talker = my_package.my_publisher:main",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"twist_listener = my_package.my_subscriber:main",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DF2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run </a:t>
            </a:r>
            <a:r>
              <a:rPr lang="en-US" sz="14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r>
              <a:rPr lang="en-US" sz="14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terminal per node: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822960" y="39319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~/mars_ws  &amp;&amp;  </a:t>
            </a:r>
            <a:r>
              <a:rPr lang="en-US" sz="1400" dirty="0" err="1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colcon</a:t>
            </a:r>
            <a:r>
              <a:rPr lang="en-US" sz="14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build --</a:t>
            </a:r>
            <a:r>
              <a:rPr lang="en-US" sz="1400" dirty="0" err="1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symlink</a:t>
            </a:r>
            <a:r>
              <a:rPr lang="en-US" sz="14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-install  &amp;&amp;  source install/setup.bash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5303520" cy="594360"/>
          </a:xfrm>
          <a:prstGeom prst="roundRect">
            <a:avLst>
              <a:gd name="adj" fmla="val 12308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822960" y="461772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ros2 run my_package twist_talker      # terminal 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4617720"/>
            <a:ext cx="5303520" cy="594360"/>
          </a:xfrm>
          <a:prstGeom prst="roundRect">
            <a:avLst>
              <a:gd name="adj" fmla="val 12308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6400800" y="461772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ros2 run my_package twist_listener    # terminal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440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terminal needs the workspace re-sourced: . install/setup.bash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8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it at the simulator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publisher already speaks the right language — /cmd_vel is exactly what TurtleBot3 listens for.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ros-humble-turtlebot3*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TURTLEBOT3_MODEL=burger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3284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8C7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ros2 launch turtlebot3_gazebo turtlebot3_world.launch.py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B315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Then, in another terminal: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run your publisher (or launch file) exactly as before — ros2 run my_package twist_talker. The simulated robot subscribes to /cmd_vel and moves.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5077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Tips &amp; Common Issues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99563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1192171"/>
            <a:ext cx="82296" cy="82296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97280" y="1100731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Workspace not sourced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68680" y="1521355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Each new terminal needs `source install/setup.bash`, otherwise ros2 run won't find your package.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32165" y="269748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352205" y="562356"/>
            <a:ext cx="82296" cy="82296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580805" y="47091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Nothing happens in Gazebo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52205" y="891540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Confirm TURTLEBOT3_MODEL is exported in that terminal and the simulation has fully loaded.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‘export TURTLEBOT3_MODEL=</a:t>
            </a:r>
            <a:r>
              <a:rPr kumimoji="0" lang="en-US" sz="12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waffle_pi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</a:p>
        </p:txBody>
      </p:sp>
      <p:sp>
        <p:nvSpPr>
          <p:cNvPr id="12" name="Shape 10"/>
          <p:cNvSpPr/>
          <p:nvPr/>
        </p:nvSpPr>
        <p:spPr>
          <a:xfrm>
            <a:off x="548640" y="2879239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68680" y="3171847"/>
            <a:ext cx="82296" cy="82296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97280" y="3080407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Robot stops moving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8680" y="3501031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Make sure to keep publishing on the timer, a single message does NOT sustain motion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32165" y="2253996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352205" y="2546604"/>
            <a:ext cx="82296" cy="82296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580805" y="245516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Robot moves in a curve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52205" y="2875788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If linear.x and angular.z are both non-zero, the robot won't drive straight or turn cleanly.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C23EC02-9000-B966-9DA8-3CF167976463}"/>
              </a:ext>
            </a:extLst>
          </p:cNvPr>
          <p:cNvSpPr/>
          <p:nvPr/>
        </p:nvSpPr>
        <p:spPr>
          <a:xfrm>
            <a:off x="6032165" y="4238244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8548F85F-C472-FFFD-E8DA-8152802AD690}"/>
              </a:ext>
            </a:extLst>
          </p:cNvPr>
          <p:cNvSpPr/>
          <p:nvPr/>
        </p:nvSpPr>
        <p:spPr>
          <a:xfrm>
            <a:off x="6352205" y="4530852"/>
            <a:ext cx="82296" cy="82296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F735CDD3-3D58-CCAF-6404-9856B191AE1E}"/>
              </a:ext>
            </a:extLst>
          </p:cNvPr>
          <p:cNvSpPr/>
          <p:nvPr/>
        </p:nvSpPr>
        <p:spPr>
          <a:xfrm>
            <a:off x="6580805" y="443941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symlink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install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C0323800-53B6-D8EB-D580-8C5828512CA7}"/>
              </a:ext>
            </a:extLst>
          </p:cNvPr>
          <p:cNvSpPr/>
          <p:nvPr/>
        </p:nvSpPr>
        <p:spPr>
          <a:xfrm>
            <a:off x="6352205" y="4860036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So that changes in Python scripts or configuration files take effect without a full rebuild.</a:t>
            </a:r>
          </a:p>
          <a:p>
            <a:pPr>
              <a:lnSpc>
                <a:spcPct val="130000"/>
              </a:lnSpc>
              <a:defRPr/>
            </a:pPr>
            <a:r>
              <a:rPr lang="en-US" sz="1250" b="1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</a:t>
            </a:r>
            <a:r>
              <a:rPr lang="en-US" sz="1250" b="1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colcon</a:t>
            </a:r>
            <a:r>
              <a:rPr lang="en-US" sz="1250" b="1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-–</a:t>
            </a:r>
            <a:r>
              <a:rPr lang="en-US" sz="1250" b="1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symlink</a:t>
            </a:r>
            <a:r>
              <a:rPr lang="en-US" sz="1250" b="1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-install’</a:t>
            </a:r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AD81B411-3BD8-136E-C6A2-1C2BA4680911}"/>
              </a:ext>
            </a:extLst>
          </p:cNvPr>
          <p:cNvSpPr/>
          <p:nvPr/>
        </p:nvSpPr>
        <p:spPr>
          <a:xfrm>
            <a:off x="548640" y="4909207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5E981C75-6A53-8B73-E0A5-9A91DA574D72}"/>
              </a:ext>
            </a:extLst>
          </p:cNvPr>
          <p:cNvSpPr/>
          <p:nvPr/>
        </p:nvSpPr>
        <p:spPr>
          <a:xfrm>
            <a:off x="868680" y="5201815"/>
            <a:ext cx="82296" cy="82296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9BF44016-5C59-9FD5-E752-2DD3F7CAD771}"/>
              </a:ext>
            </a:extLst>
          </p:cNvPr>
          <p:cNvSpPr/>
          <p:nvPr/>
        </p:nvSpPr>
        <p:spPr>
          <a:xfrm>
            <a:off x="1097280" y="5110375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Create Bash Aliases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30483594-337A-A5D0-3150-A4C3FFC84C89}"/>
              </a:ext>
            </a:extLst>
          </p:cNvPr>
          <p:cNvSpPr/>
          <p:nvPr/>
        </p:nvSpPr>
        <p:spPr>
          <a:xfrm>
            <a:off x="868680" y="5530999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Add shortcuts in your .</a:t>
            </a:r>
            <a:r>
              <a:rPr kumimoji="0" lang="en-AU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bashrc</a:t>
            </a:r>
            <a:r>
              <a:rPr kumimoji="0" lang="en-AU" sz="125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file to combine workspace navigation, building, and environment sourcing into a single command.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5A62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Now that you know how it works...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Can you make the robot drive itself in a square?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356360" y="4572224"/>
            <a:ext cx="1737360" cy="914"/>
          </a:xfrm>
          <a:prstGeom prst="line">
            <a:avLst/>
          </a:prstGeom>
          <a:noFill/>
          <a:ln w="38100">
            <a:solidFill>
              <a:srgbClr val="2E7DE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093720" y="2834864"/>
            <a:ext cx="914" cy="1737360"/>
          </a:xfrm>
          <a:prstGeom prst="line">
            <a:avLst/>
          </a:prstGeom>
          <a:noFill/>
          <a:ln w="38100">
            <a:solidFill>
              <a:srgbClr val="2E7DE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56360" y="2834864"/>
            <a:ext cx="1737360" cy="914"/>
          </a:xfrm>
          <a:prstGeom prst="line">
            <a:avLst/>
          </a:prstGeom>
          <a:noFill/>
          <a:ln w="38100">
            <a:solidFill>
              <a:srgbClr val="2E7DE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56360" y="2834864"/>
            <a:ext cx="914" cy="1737360"/>
          </a:xfrm>
          <a:prstGeom prst="line">
            <a:avLst/>
          </a:prstGeom>
          <a:noFill/>
          <a:ln w="38100">
            <a:solidFill>
              <a:srgbClr val="2E7DE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292352" y="4508216"/>
            <a:ext cx="128016" cy="128016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29712" y="4508216"/>
            <a:ext cx="128016" cy="128016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029712" y="2770856"/>
            <a:ext cx="128016" cy="128016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292352" y="2770856"/>
            <a:ext cx="128016" cy="128016"/>
          </a:xfrm>
          <a:prstGeom prst="ellipse">
            <a:avLst/>
          </a:prstGeom>
          <a:solidFill>
            <a:srgbClr val="2E7DE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99160" y="46636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5A62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2148840"/>
            <a:ext cx="7406640" cy="3108960"/>
          </a:xfrm>
          <a:prstGeom prst="roundRect">
            <a:avLst>
              <a:gd name="adj" fmla="val 3529"/>
            </a:avLst>
          </a:prstGeom>
          <a:solidFill>
            <a:srgbClr val="EDF2F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26280" y="242316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 small hint ;)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26280" y="2926080"/>
            <a:ext cx="6766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A4A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 already have everything you need (i.e. a publisher and the Twist message)
Think about how to alternate between two kinds of motion, and how to know when to switch.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5440680"/>
            <a:ext cx="6570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6A7A9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If you finish early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1" y="5760720"/>
            <a:ext cx="7215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A7A9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Try a different shape · try driving it in reverse · try making the size adjustable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53A67D-0D87-D11B-C273-E311D4BE0288}"/>
              </a:ext>
            </a:extLst>
          </p:cNvPr>
          <p:cNvSpPr txBox="1"/>
          <p:nvPr/>
        </p:nvSpPr>
        <p:spPr>
          <a:xfrm>
            <a:off x="9238891" y="10006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672A9-590A-6FE4-3BCA-7979AE9E124B}"/>
                  </a:ext>
                </a:extLst>
              </p:cNvPr>
              <p:cNvSpPr txBox="1"/>
              <p:nvPr/>
            </p:nvSpPr>
            <p:spPr>
              <a:xfrm>
                <a:off x="8397291" y="4311611"/>
                <a:ext cx="2895549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useful formulas</a:t>
                </a:r>
              </a:p>
              <a:p>
                <a:r>
                  <a:rPr lang="en-AU" dirty="0" err="1"/>
                  <a:t>Δθ</a:t>
                </a:r>
                <a:r>
                  <a:rPr lang="en-AU" dirty="0"/>
                  <a:t> = ω Δ t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AU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𝑣</m:t>
                    </m:r>
                    <m:r>
                      <m:rPr>
                        <m:sty m:val="p"/>
                      </m:rPr>
                      <a:rPr lang="en-AU" i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AU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672A9-590A-6FE4-3BCA-7979AE9E1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91" y="4311611"/>
                <a:ext cx="2895549" cy="615553"/>
              </a:xfrm>
              <a:prstGeom prst="rect">
                <a:avLst/>
              </a:prstGeom>
              <a:blipFill>
                <a:blip r:embed="rId3"/>
                <a:stretch>
                  <a:fillRect l="-1895" t="-2970" b="-1485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7D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FURTHER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3152" cy="777240"/>
          </a:xfrm>
          <a:prstGeom prst="round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868680" y="181051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repo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github.com/uqmars/workshop-resources — ROS2 folder, full solutions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73152" cy="777240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68680" y="281635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ROS2 documentation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21868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docs.ros.org/en/humble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73152" cy="777240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868680" y="382219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 Backend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2245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roboticsbackend.com — blogs on ROS2 concepts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73152" cy="777240"/>
          </a:xfrm>
          <a:prstGeom prst="roundRect">
            <a:avLst/>
          </a:prstGeom>
          <a:solidFill>
            <a:srgbClr val="2E7DE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868680" y="48280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Addison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2303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automaticaddison.com — TurtleBot3 &amp; ROS2 tutorials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pPr defTabSz="1219170"/>
            <a:endParaRPr lang="en-A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975360" y="1219200"/>
            <a:ext cx="9753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5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 for attending!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0" y="2682240"/>
            <a:ext cx="8534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code &amp; resources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438400" y="3291840"/>
            <a:ext cx="7315200" cy="7315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pPr defTabSz="1219170"/>
            <a:endParaRPr lang="en-A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2438400" y="3291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github.com/uqmars/workshop-resources/ROS2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0" y="4511040"/>
            <a:ext cx="4876800" cy="4876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pPr defTabSz="1219170"/>
            <a:endParaRPr lang="en-A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438400" y="4754880"/>
            <a:ext cx="7315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 Mechatronics &amp; Robotics Society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1CA981-B7B0-C032-BA53-F478A04F5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9" y="4287317"/>
            <a:ext cx="2119532" cy="2122907"/>
          </a:xfrm>
          <a:prstGeom prst="rect">
            <a:avLst/>
          </a:prstGeom>
        </p:spPr>
      </p:pic>
      <p:pic>
        <p:nvPicPr>
          <p:cNvPr id="13" name="Google Shape;283;p45">
            <a:extLst>
              <a:ext uri="{FF2B5EF4-FFF2-40B4-BE49-F238E27FC236}">
                <a16:creationId xmlns:a16="http://schemas.microsoft.com/office/drawing/2014/main" id="{2FCC37EA-D258-C429-DB42-F64D3A75F2F3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470" y="4145280"/>
            <a:ext cx="2406981" cy="2406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</TotalTime>
  <Words>1434</Words>
  <Application>Microsoft Office PowerPoint</Application>
  <PresentationFormat>Widescreen</PresentationFormat>
  <Paragraphs>205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Aptos</vt:lpstr>
      <vt:lpstr>Aptos Light</vt:lpstr>
      <vt:lpstr>Arial</vt:lpstr>
      <vt:lpstr>Calibri</vt:lpstr>
      <vt:lpstr>Cambria Math</vt:lpstr>
      <vt:lpstr>Consolas</vt:lpstr>
      <vt:lpstr>Courier New</vt:lpstr>
      <vt:lpstr>Trebuchet MS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Shaariq Jaldin</cp:lastModifiedBy>
  <cp:revision>4</cp:revision>
  <cp:lastPrinted>2026-08-25T01:35:20Z</cp:lastPrinted>
  <dcterms:created xsi:type="dcterms:W3CDTF">2026-08-23T07:36:52Z</dcterms:created>
  <dcterms:modified xsi:type="dcterms:W3CDTF">2026-08-25T01:36:06Z</dcterms:modified>
</cp:coreProperties>
</file>